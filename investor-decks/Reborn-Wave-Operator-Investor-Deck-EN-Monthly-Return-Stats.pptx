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46920" y="-182880"/>
            <a:ext cx="2194560" cy="7223760"/>
          </a:xfrm>
          <a:prstGeom prst="rect">
            <a:avLst/>
          </a:prstGeom>
          <a:solidFill>
            <a:srgbClr val="08373D"/>
          </a:solidFill>
          <a:ln>
            <a:solidFill>
              <a:srgbClr val="08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411480"/>
            <a:ext cx="2103120" cy="2103120"/>
          </a:xfrm>
          <a:prstGeom prst="ellipse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1325880"/>
            <a:ext cx="2103120" cy="2103120"/>
          </a:xfrm>
          <a:prstGeom prst="ellipse">
            <a:avLst/>
          </a:prstGeom>
          <a:solidFill>
            <a:srgbClr val="F8D4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19" y="2240280"/>
            <a:ext cx="2103120" cy="210312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wg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1078992" cy="10789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1572768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900" b="1">
                <a:solidFill>
                  <a:srgbClr val="FFFFFF"/>
                </a:solidFill>
                <a:latin typeface="Aptos"/>
              </a:rPr>
              <a:t>Reborn Wave Group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235915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8D477"/>
                </a:solidFill>
                <a:latin typeface="Aptos"/>
              </a:rPr>
              <a:t>5-Level Batam Activity Club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297180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B9CACF"/>
                </a:solidFill>
                <a:latin typeface="Aptos"/>
              </a:rPr>
              <a:t>Operator-Investor Opportunity: 2 Years $0 Rent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3675887"/>
            <a:ext cx="539496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Aptos"/>
              </a:rPr>
              <a:t>Business owners fund renovation and operations, target capital recovery in 6 months, then keep 70% of monthly net profit from month 7 onward.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822960"/>
            <a:ext cx="4709160" cy="5120640"/>
          </a:xfrm>
          <a:prstGeom prst="roundRect">
            <a:avLst/>
          </a:prstGeom>
          <a:solidFill>
            <a:srgbClr val="0D3A41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oluruu-blindbox-box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8272" y="1042415"/>
            <a:ext cx="4069080" cy="2331720"/>
          </a:xfrm>
          <a:prstGeom prst="rect">
            <a:avLst/>
          </a:prstGeom>
        </p:spPr>
      </p:pic>
      <p:pic>
        <p:nvPicPr>
          <p:cNvPr id="13" name="Picture 12" descr="doluruu-female-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9792" y="3090672"/>
            <a:ext cx="1325880" cy="1325880"/>
          </a:xfrm>
          <a:prstGeom prst="rect">
            <a:avLst/>
          </a:prstGeom>
        </p:spPr>
      </p:pic>
      <p:pic>
        <p:nvPicPr>
          <p:cNvPr id="14" name="Picture 13" descr="Doluruu Boy_174966454535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96528" y="3063240"/>
            <a:ext cx="1207008" cy="12070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784848" y="5029200"/>
            <a:ext cx="4069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8D477"/>
                </a:solidFill>
                <a:latin typeface="Aptos"/>
              </a:rPr>
              <a:t>75 sqm per unit | IDR main + SGD reference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46520"/>
            <a:ext cx="7132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B9CACF"/>
                </a:solidFill>
                <a:latin typeface="Aptos"/>
              </a:rPr>
              <a:t>Reborn Wave Group | Operator-Investor Deck | IDR main + SGD reference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635508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B9CACF"/>
                </a:solidFill>
                <a:latin typeface="Aptos"/>
              </a:rPr>
              <a:t>Return estimates only, not guaranteed returns.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46920" y="-182880"/>
            <a:ext cx="2194560" cy="7223760"/>
          </a:xfrm>
          <a:prstGeom prst="rect">
            <a:avLst/>
          </a:prstGeom>
          <a:solidFill>
            <a:srgbClr val="08373D"/>
          </a:solidFill>
          <a:ln>
            <a:solidFill>
              <a:srgbClr val="08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411480"/>
            <a:ext cx="2103120" cy="2103120"/>
          </a:xfrm>
          <a:prstGeom prst="ellipse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1325880"/>
            <a:ext cx="2103120" cy="2103120"/>
          </a:xfrm>
          <a:prstGeom prst="ellipse">
            <a:avLst/>
          </a:prstGeom>
          <a:solidFill>
            <a:srgbClr val="F8D4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19" y="2240280"/>
            <a:ext cx="2103120" cy="210312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9CACF"/>
                </a:solidFill>
                <a:latin typeface="Aptos"/>
              </a:rPr>
              <a:t>REBORN WAVE GROUP | OPERATOR-INVESTOR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"/>
            <a:ext cx="8503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"/>
              </a:rP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170432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ACF"/>
                </a:solidFill>
                <a:latin typeface="Aptos"/>
              </a:rPr>
              <a:t>Tourism, family, nightlife, beauty, KTV, pet cafe, and events in one building.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27632"/>
            <a:ext cx="3886200" cy="3337560"/>
          </a:xfrm>
          <a:prstGeom prst="roundRect">
            <a:avLst/>
          </a:prstGeom>
          <a:solidFill>
            <a:srgbClr val="0D3A41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_17645589010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28800"/>
            <a:ext cx="3520440" cy="2148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41248" y="4224528"/>
            <a:ext cx="3520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Aptos"/>
              </a:rPr>
              <a:t>Website-style premium dark visuals, social content, and shared traffic make the building feel like one destination.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00600" y="1554480"/>
            <a:ext cx="6126480" cy="987552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65192" y="1691639"/>
            <a:ext cx="5797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Aptos"/>
              </a:rPr>
              <a:t>One Destination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65192" y="2066543"/>
            <a:ext cx="5797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A five-level Batam club where tourists, families, groups, and nightlife guests can stay longer and spend across multiple activities.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00600" y="2852928"/>
            <a:ext cx="6126480" cy="987552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65192" y="2990088"/>
            <a:ext cx="5797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8D477"/>
                </a:solidFill>
                <a:latin typeface="Aptos"/>
              </a:rPr>
              <a:t>Partner-Led Growth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65192" y="3364992"/>
            <a:ext cx="5797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Operators bring capital and operating expertise while Reborn Wave provides space, brand, traffic, website, social media, and shared customer flow.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00600" y="4151376"/>
            <a:ext cx="6126480" cy="987552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65192" y="4288536"/>
            <a:ext cx="5797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4D399"/>
                </a:solidFill>
                <a:latin typeface="Aptos"/>
              </a:rPr>
              <a:t>Cross-Traffic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65192" y="4663440"/>
            <a:ext cx="5797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KTV, kids play, beauty, pet cafe, and live events feed each other through packages, birthdays, competitions, and social content.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46520"/>
            <a:ext cx="7132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B9CACF"/>
                </a:solidFill>
                <a:latin typeface="Aptos"/>
              </a:rPr>
              <a:t>Reborn Wave Group | Operator-Investor Deck | IDR main + SGD reference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635508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B9CACF"/>
                </a:solidFill>
                <a:latin typeface="Aptos"/>
              </a:rPr>
              <a:t>Return estimates only, not guaranteed returns.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46920" y="-182880"/>
            <a:ext cx="2194560" cy="7223760"/>
          </a:xfrm>
          <a:prstGeom prst="rect">
            <a:avLst/>
          </a:prstGeom>
          <a:solidFill>
            <a:srgbClr val="08373D"/>
          </a:solidFill>
          <a:ln>
            <a:solidFill>
              <a:srgbClr val="08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411480"/>
            <a:ext cx="2103120" cy="2103120"/>
          </a:xfrm>
          <a:prstGeom prst="ellipse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1325880"/>
            <a:ext cx="2103120" cy="2103120"/>
          </a:xfrm>
          <a:prstGeom prst="ellipse">
            <a:avLst/>
          </a:prstGeom>
          <a:solidFill>
            <a:srgbClr val="F8D4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19" y="2240280"/>
            <a:ext cx="2103120" cy="210312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9CACF"/>
                </a:solidFill>
                <a:latin typeface="Aptos"/>
              </a:rPr>
              <a:t>REBORN WAVE GROUP | OPERATOR-INVESTOR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"/>
            <a:ext cx="8503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"/>
              </a:rPr>
              <a:t>Operator Deal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170432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ACF"/>
                </a:solidFill>
                <a:latin typeface="Aptos"/>
              </a:rPr>
              <a:t>A lower-rent-risk path with a 6-month capital recovery target.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72768"/>
            <a:ext cx="5166360" cy="1298448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1709928"/>
            <a:ext cx="48371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8D477"/>
                </a:solidFill>
                <a:latin typeface="Aptos"/>
              </a:rPr>
              <a:t>$0 rent for 24 months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2084832"/>
            <a:ext cx="4837176" cy="676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B9CACF"/>
                </a:solidFill>
                <a:latin typeface="Aptos"/>
              </a:rPr>
              <a:t>Operator gets two years rent-free from opening or handover date.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572768"/>
            <a:ext cx="5166360" cy="1298448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709928"/>
            <a:ext cx="48371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Aptos"/>
              </a:rPr>
              <a:t>Operator funds the business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084832"/>
            <a:ext cx="4837176" cy="676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B9CACF"/>
                </a:solidFill>
                <a:latin typeface="Aptos"/>
              </a:rPr>
              <a:t>Renovation, equipment, staff, stock, licenses, utilities, and operations are covered by the operator.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264408"/>
            <a:ext cx="5166360" cy="1298448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1" y="3401568"/>
            <a:ext cx="48371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4D399"/>
                </a:solidFill>
                <a:latin typeface="Aptos"/>
              </a:rPr>
              <a:t>70/30 split + 6-month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" y="3776472"/>
            <a:ext cx="4837176" cy="676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B9CACF"/>
                </a:solidFill>
                <a:latin typeface="Aptos"/>
              </a:rPr>
              <a:t>Monthly net profit is split 70% to operator and 30% to Reborn. Base case targets capital back in 6 months.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264408"/>
            <a:ext cx="5166360" cy="1298448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3401568"/>
            <a:ext cx="48371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472B6"/>
                </a:solidFill>
                <a:latin typeface="Aptos"/>
              </a:rPr>
              <a:t>Transparent reporting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3776472"/>
            <a:ext cx="4837176" cy="676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B9CACF"/>
                </a:solidFill>
                <a:latin typeface="Aptos"/>
              </a:rPr>
              <a:t>Sales run through shared POS or audited monthly report; cash sales must be recorded daily.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46520"/>
            <a:ext cx="7132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B9CACF"/>
                </a:solidFill>
                <a:latin typeface="Aptos"/>
              </a:rPr>
              <a:t>Reborn Wave Group | Operator-Investor Deck | IDR main + SGD reference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635508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B9CACF"/>
                </a:solidFill>
                <a:latin typeface="Aptos"/>
              </a:rPr>
              <a:t>Return estimates only, not guaranteed returns.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46920" y="-182880"/>
            <a:ext cx="2194560" cy="7223760"/>
          </a:xfrm>
          <a:prstGeom prst="rect">
            <a:avLst/>
          </a:prstGeom>
          <a:solidFill>
            <a:srgbClr val="08373D"/>
          </a:solidFill>
          <a:ln>
            <a:solidFill>
              <a:srgbClr val="08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411480"/>
            <a:ext cx="2103120" cy="2103120"/>
          </a:xfrm>
          <a:prstGeom prst="ellipse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1325880"/>
            <a:ext cx="2103120" cy="2103120"/>
          </a:xfrm>
          <a:prstGeom prst="ellipse">
            <a:avLst/>
          </a:prstGeom>
          <a:solidFill>
            <a:srgbClr val="F8D4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19" y="2240280"/>
            <a:ext cx="2103120" cy="210312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9CACF"/>
                </a:solidFill>
                <a:latin typeface="Aptos"/>
              </a:rPr>
              <a:t>REBORN WAVE GROUP | OPERATOR-INVESTOR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"/>
            <a:ext cx="8503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"/>
              </a:rPr>
              <a:t>Floor + Unit Breakdown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170432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ACF"/>
                </a:solidFill>
                <a:latin typeface="Aptos"/>
              </a:rPr>
              <a:t>Updated area assumption: 75 sqm per unit.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481328"/>
            <a:ext cx="10744200" cy="457200"/>
          </a:xfrm>
          <a:prstGeom prst="roundRect">
            <a:avLst/>
          </a:prstGeom>
          <a:solidFill>
            <a:srgbClr val="07272D"/>
          </a:solidFill>
          <a:ln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572768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472B6"/>
                </a:solidFill>
                <a:latin typeface="Aptos"/>
              </a:rPr>
              <a:t>1FA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1554480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Kids Fun House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39" y="1563624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1 unit(s)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0368" y="1563624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8D477"/>
                </a:solidFill>
                <a:latin typeface="Aptos"/>
              </a:rPr>
              <a:t>75 sqm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563624"/>
            <a:ext cx="4892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B9CACF"/>
                </a:solidFill>
                <a:latin typeface="Aptos"/>
              </a:rPr>
              <a:t>Family and tourist daytime traffic, prize games, birthday visits, and safe kid-friendly activities.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084832"/>
            <a:ext cx="10744200" cy="457200"/>
          </a:xfrm>
          <a:prstGeom prst="roundRect">
            <a:avLst/>
          </a:prstGeom>
          <a:solidFill>
            <a:srgbClr val="07272D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176272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2D3EE"/>
                </a:solidFill>
                <a:latin typeface="Aptos"/>
              </a:rPr>
              <a:t>1FB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2157984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KTV Lounge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39" y="2167128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2 unit(s)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0368" y="216712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8D477"/>
                </a:solidFill>
                <a:latin typeface="Aptos"/>
              </a:rPr>
              <a:t>150 sqm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167128"/>
            <a:ext cx="4892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B9CACF"/>
                </a:solidFill>
                <a:latin typeface="Aptos"/>
              </a:rPr>
              <a:t>Open singing, group seating, singing competitions, and social video moments for repeat traffic.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688336"/>
            <a:ext cx="10744200" cy="457200"/>
          </a:xfrm>
          <a:prstGeom prst="roundRect">
            <a:avLst/>
          </a:prstGeom>
          <a:solidFill>
            <a:srgbClr val="07272D"/>
          </a:solidFill>
          <a:ln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2779776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472B6"/>
                </a:solidFill>
                <a:latin typeface="Aptos"/>
              </a:rPr>
              <a:t>2FA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2761488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Beauty Salon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39" y="2770632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1 unit(s)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277063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8D477"/>
                </a:solidFill>
                <a:latin typeface="Aptos"/>
              </a:rPr>
              <a:t>75 sqm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2770632"/>
            <a:ext cx="4892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B9CACF"/>
                </a:solidFill>
                <a:latin typeface="Aptos"/>
              </a:rPr>
              <a:t>Repeat appointments, group makeovers, event prep, and cross-traffic from KTV guests.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3291840"/>
            <a:ext cx="10744200" cy="457200"/>
          </a:xfrm>
          <a:prstGeom prst="roundRect">
            <a:avLst/>
          </a:prstGeom>
          <a:solidFill>
            <a:srgbClr val="07272D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3383280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2D3EE"/>
                </a:solidFill>
                <a:latin typeface="Aptos"/>
              </a:rPr>
              <a:t>2FB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3364992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Private KTV Rooms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77639" y="3374136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2 unit(s)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30368" y="3374136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8D477"/>
                </a:solidFill>
                <a:latin typeface="Aptos"/>
              </a:rPr>
              <a:t>150 sqm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3374136"/>
            <a:ext cx="4892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B9CACF"/>
                </a:solidFill>
                <a:latin typeface="Aptos"/>
              </a:rPr>
              <a:t>Four bookable rooms for birthdays, friend groups, customer hosting, and private celebrations.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3895344"/>
            <a:ext cx="10744200" cy="457200"/>
          </a:xfrm>
          <a:prstGeom prst="roundRect">
            <a:avLst/>
          </a:prstGeom>
          <a:solidFill>
            <a:srgbClr val="07272D"/>
          </a:solidFill>
          <a:ln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3986783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472B6"/>
                </a:solidFill>
                <a:latin typeface="Aptos"/>
              </a:rPr>
              <a:t>3FA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7320" y="3968496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Beauty Salon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77639" y="3977639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1 unit(s)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30368" y="3977639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8D477"/>
                </a:solidFill>
                <a:latin typeface="Aptos"/>
              </a:rPr>
              <a:t>75 sqm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3977639"/>
            <a:ext cx="4892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B9CACF"/>
                </a:solidFill>
                <a:latin typeface="Aptos"/>
              </a:rPr>
              <a:t>Beauty service beside VIP KTV supports premium guests, event prep, and recurring spend.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4498848"/>
            <a:ext cx="10744200" cy="457200"/>
          </a:xfrm>
          <a:prstGeom prst="roundRect">
            <a:avLst/>
          </a:prstGeom>
          <a:solidFill>
            <a:srgbClr val="07272D"/>
          </a:solidFill>
          <a:ln>
            <a:solidFill>
              <a:srgbClr val="F8D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4590288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8D477"/>
                </a:solidFill>
                <a:latin typeface="Aptos"/>
              </a:rPr>
              <a:t>3FB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17320" y="4572000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VIP KTV Rooms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77639" y="4581144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2 unit(s)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30368" y="4581144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8D477"/>
                </a:solidFill>
                <a:latin typeface="Aptos"/>
              </a:rPr>
              <a:t>150 sqm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9360" y="4581144"/>
            <a:ext cx="4892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B9CACF"/>
                </a:solidFill>
                <a:latin typeface="Aptos"/>
              </a:rPr>
              <a:t>Two premium rooms for VIP groups, business hosting, birthday events, and higher table spend.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" y="5102352"/>
            <a:ext cx="10744200" cy="457200"/>
          </a:xfrm>
          <a:prstGeom prst="roundRect">
            <a:avLst/>
          </a:prstGeom>
          <a:solidFill>
            <a:srgbClr val="07272D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" y="5193792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4D399"/>
                </a:solidFill>
                <a:latin typeface="Aptos"/>
              </a:rPr>
              <a:t>4F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17320" y="5175504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Pet Cafe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77639" y="5184648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3 unit(s)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30368" y="518464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8D477"/>
                </a:solidFill>
                <a:latin typeface="Aptos"/>
              </a:rPr>
              <a:t>225 sqm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9360" y="5184648"/>
            <a:ext cx="4892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B9CACF"/>
                </a:solidFill>
                <a:latin typeface="Aptos"/>
              </a:rPr>
              <a:t>Food, drinks, pet community, blindbox tie-ins, photo content, and family-friendly visits.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0080" y="5705856"/>
            <a:ext cx="10744200" cy="457200"/>
          </a:xfrm>
          <a:prstGeom prst="roundRect">
            <a:avLst/>
          </a:prstGeom>
          <a:solidFill>
            <a:srgbClr val="07272D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2960" y="5797296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A78BFA"/>
                </a:solidFill>
                <a:latin typeface="Aptos"/>
              </a:rPr>
              <a:t>5F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417320" y="5779008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Live House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977639" y="5788152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3 unit(s)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230368" y="578815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8D477"/>
                </a:solidFill>
                <a:latin typeface="Aptos"/>
              </a:rPr>
              <a:t>225 sqm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09360" y="5788152"/>
            <a:ext cx="4892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B9CACF"/>
                </a:solidFill>
                <a:latin typeface="Aptos"/>
              </a:rPr>
              <a:t>Live band, performances, dance floor, sea-view events, premium tables, and nightlife traffic.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" y="6446520"/>
            <a:ext cx="7132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B9CACF"/>
                </a:solidFill>
                <a:latin typeface="Aptos"/>
              </a:rPr>
              <a:t>Reborn Wave Group | Operator-Investor Deck | IDR main + SGD reference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98079" y="635508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B9CACF"/>
                </a:solidFill>
                <a:latin typeface="Aptos"/>
              </a:rPr>
              <a:t>Return estimates only, not guaranteed returns.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46920" y="-182880"/>
            <a:ext cx="2194560" cy="7223760"/>
          </a:xfrm>
          <a:prstGeom prst="rect">
            <a:avLst/>
          </a:prstGeom>
          <a:solidFill>
            <a:srgbClr val="08373D"/>
          </a:solidFill>
          <a:ln>
            <a:solidFill>
              <a:srgbClr val="08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411480"/>
            <a:ext cx="2103120" cy="2103120"/>
          </a:xfrm>
          <a:prstGeom prst="ellipse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1325880"/>
            <a:ext cx="2103120" cy="2103120"/>
          </a:xfrm>
          <a:prstGeom prst="ellipse">
            <a:avLst/>
          </a:prstGeom>
          <a:solidFill>
            <a:srgbClr val="F8D4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19" y="2240280"/>
            <a:ext cx="2103120" cy="210312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9CACF"/>
                </a:solidFill>
                <a:latin typeface="Aptos"/>
              </a:rPr>
              <a:t>REBORN WAVE GROUP | OPERATOR-INVESTOR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"/>
            <a:ext cx="8503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"/>
              </a:rPr>
              <a:t>Monthly Return Stats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170432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ACF"/>
                </a:solidFill>
                <a:latin typeface="Aptos"/>
              </a:rPr>
              <a:t>Base-case projections target capital back in 6 months; month 7 onward becomes operator profit.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2331720" cy="384048"/>
          </a:xfrm>
          <a:prstGeom prst="rect">
            <a:avLst/>
          </a:prstGeom>
          <a:solidFill>
            <a:srgbClr val="083D44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508760"/>
            <a:ext cx="2240279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Business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39" y="1417320"/>
            <a:ext cx="1325880" cy="384048"/>
          </a:xfrm>
          <a:prstGeom prst="rect">
            <a:avLst/>
          </a:prstGeom>
          <a:solidFill>
            <a:srgbClr val="083D44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59" y="1508760"/>
            <a:ext cx="1234439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Setup IDR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0520" y="1417320"/>
            <a:ext cx="1371600" cy="384048"/>
          </a:xfrm>
          <a:prstGeom prst="rect">
            <a:avLst/>
          </a:prstGeom>
          <a:solidFill>
            <a:srgbClr val="083D44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1508760"/>
            <a:ext cx="128016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Monthly Net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32120" y="1417320"/>
            <a:ext cx="1600200" cy="384048"/>
          </a:xfrm>
          <a:prstGeom prst="rect">
            <a:avLst/>
          </a:prstGeom>
          <a:solidFill>
            <a:srgbClr val="083D44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77840" y="1508760"/>
            <a:ext cx="150876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Operator Monthly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0" y="1417320"/>
            <a:ext cx="1600200" cy="384048"/>
          </a:xfrm>
          <a:prstGeom prst="rect">
            <a:avLst/>
          </a:prstGeom>
          <a:solidFill>
            <a:srgbClr val="083D44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78040" y="1508760"/>
            <a:ext cx="150876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Reborn Monthly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32520" y="1417320"/>
            <a:ext cx="1828800" cy="384048"/>
          </a:xfrm>
          <a:prstGeom prst="rect">
            <a:avLst/>
          </a:prstGeom>
          <a:solidFill>
            <a:srgbClr val="083D44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0" y="1508760"/>
            <a:ext cx="173736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Profit After Month 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1810512"/>
            <a:ext cx="2331720" cy="457200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1920240"/>
            <a:ext cx="224027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FFFFFF"/>
                </a:solidFill>
                <a:latin typeface="Aptos"/>
              </a:rPr>
              <a:t>1FA Kids Fun House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34639" y="1810512"/>
            <a:ext cx="1325880" cy="457200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80359" y="1920240"/>
            <a:ext cx="123443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Rp875M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60520" y="1810512"/>
            <a:ext cx="1371600" cy="457200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6240" y="1920240"/>
            <a:ext cx="12801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Rp208M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32120" y="1810512"/>
            <a:ext cx="1600200" cy="457200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77840" y="1920240"/>
            <a:ext cx="15087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472B6"/>
                </a:solidFill>
                <a:latin typeface="Aptos"/>
              </a:rPr>
              <a:t>Rp146M/month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0" y="1810512"/>
            <a:ext cx="1600200" cy="457200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78040" y="1920240"/>
            <a:ext cx="15087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Rp62M/month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32520" y="1810512"/>
            <a:ext cx="1828800" cy="457200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78240" y="1920240"/>
            <a:ext cx="17373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472B6"/>
                </a:solidFill>
                <a:latin typeface="Aptos"/>
              </a:rPr>
              <a:t>Rp875M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2286000"/>
            <a:ext cx="2331720" cy="457200"/>
          </a:xfrm>
          <a:prstGeom prst="rect">
            <a:avLst/>
          </a:prstGeom>
          <a:solidFill>
            <a:srgbClr val="093036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2395728"/>
            <a:ext cx="224027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FFFFFF"/>
                </a:solidFill>
                <a:latin typeface="Aptos"/>
              </a:rPr>
              <a:t>1FB KTV Lounge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834639" y="2286000"/>
            <a:ext cx="1325880" cy="457200"/>
          </a:xfrm>
          <a:prstGeom prst="rect">
            <a:avLst/>
          </a:prstGeom>
          <a:solidFill>
            <a:srgbClr val="093036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880359" y="2395728"/>
            <a:ext cx="123443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Rp1.75B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60520" y="2286000"/>
            <a:ext cx="1371600" cy="457200"/>
          </a:xfrm>
          <a:prstGeom prst="rect">
            <a:avLst/>
          </a:prstGeom>
          <a:solidFill>
            <a:srgbClr val="093036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0" y="2395728"/>
            <a:ext cx="12801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Rp417M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532120" y="2286000"/>
            <a:ext cx="1600200" cy="457200"/>
          </a:xfrm>
          <a:prstGeom prst="rect">
            <a:avLst/>
          </a:prstGeom>
          <a:solidFill>
            <a:srgbClr val="093036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577840" y="2395728"/>
            <a:ext cx="15087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22D3EE"/>
                </a:solidFill>
                <a:latin typeface="Aptos"/>
              </a:rPr>
              <a:t>Rp292M/month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132320" y="2286000"/>
            <a:ext cx="1600200" cy="457200"/>
          </a:xfrm>
          <a:prstGeom prst="rect">
            <a:avLst/>
          </a:prstGeom>
          <a:solidFill>
            <a:srgbClr val="093036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78040" y="2395728"/>
            <a:ext cx="15087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Rp125M/month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732520" y="2286000"/>
            <a:ext cx="1828800" cy="457200"/>
          </a:xfrm>
          <a:prstGeom prst="rect">
            <a:avLst/>
          </a:prstGeom>
          <a:solidFill>
            <a:srgbClr val="093036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78240" y="2395728"/>
            <a:ext cx="17373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22D3EE"/>
                </a:solidFill>
                <a:latin typeface="Aptos"/>
              </a:rPr>
              <a:t>Rp1.75B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2761488"/>
            <a:ext cx="2331720" cy="457200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2871216"/>
            <a:ext cx="224027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FFFFFF"/>
                </a:solidFill>
                <a:latin typeface="Aptos"/>
              </a:rPr>
              <a:t>2FA Beauty Salon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834639" y="2761488"/>
            <a:ext cx="1325880" cy="457200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880359" y="2871216"/>
            <a:ext cx="123443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Rp775M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60520" y="2761488"/>
            <a:ext cx="1371600" cy="457200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206240" y="2871216"/>
            <a:ext cx="12801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Rp185M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532120" y="2761488"/>
            <a:ext cx="1600200" cy="457200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577840" y="2871216"/>
            <a:ext cx="15087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472B6"/>
                </a:solidFill>
                <a:latin typeface="Aptos"/>
              </a:rPr>
              <a:t>Rp129M/month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132320" y="2761488"/>
            <a:ext cx="1600200" cy="457200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178040" y="2871216"/>
            <a:ext cx="15087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Rp55M/month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732520" y="2761488"/>
            <a:ext cx="1828800" cy="457200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778240" y="2871216"/>
            <a:ext cx="17373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472B6"/>
                </a:solidFill>
                <a:latin typeface="Aptos"/>
              </a:rPr>
              <a:t>Rp775M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2920" y="3236976"/>
            <a:ext cx="2331720" cy="457200"/>
          </a:xfrm>
          <a:prstGeom prst="rect">
            <a:avLst/>
          </a:prstGeom>
          <a:solidFill>
            <a:srgbClr val="093036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48640" y="3346704"/>
            <a:ext cx="224027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FFFFFF"/>
                </a:solidFill>
                <a:latin typeface="Aptos"/>
              </a:rPr>
              <a:t>2FB Private KTV Rooms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834639" y="3236976"/>
            <a:ext cx="1325880" cy="457200"/>
          </a:xfrm>
          <a:prstGeom prst="rect">
            <a:avLst/>
          </a:prstGeom>
          <a:solidFill>
            <a:srgbClr val="093036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880359" y="3346704"/>
            <a:ext cx="123443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Rp1.9B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60520" y="3236976"/>
            <a:ext cx="1371600" cy="457200"/>
          </a:xfrm>
          <a:prstGeom prst="rect">
            <a:avLst/>
          </a:prstGeom>
          <a:solidFill>
            <a:srgbClr val="093036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206240" y="3346704"/>
            <a:ext cx="12801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Rp452M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532120" y="3236976"/>
            <a:ext cx="1600200" cy="457200"/>
          </a:xfrm>
          <a:prstGeom prst="rect">
            <a:avLst/>
          </a:prstGeom>
          <a:solidFill>
            <a:srgbClr val="093036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577840" y="3346704"/>
            <a:ext cx="15087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22D3EE"/>
                </a:solidFill>
                <a:latin typeface="Aptos"/>
              </a:rPr>
              <a:t>Rp317M/month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132320" y="3236976"/>
            <a:ext cx="1600200" cy="457200"/>
          </a:xfrm>
          <a:prstGeom prst="rect">
            <a:avLst/>
          </a:prstGeom>
          <a:solidFill>
            <a:srgbClr val="093036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178040" y="3346704"/>
            <a:ext cx="15087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Rp136M/month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732520" y="3236976"/>
            <a:ext cx="1828800" cy="457200"/>
          </a:xfrm>
          <a:prstGeom prst="rect">
            <a:avLst/>
          </a:prstGeom>
          <a:solidFill>
            <a:srgbClr val="093036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778240" y="3346704"/>
            <a:ext cx="17373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22D3EE"/>
                </a:solidFill>
                <a:latin typeface="Aptos"/>
              </a:rPr>
              <a:t>Rp1.9B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02920" y="3712464"/>
            <a:ext cx="2331720" cy="457200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48640" y="3822192"/>
            <a:ext cx="224027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FFFFFF"/>
                </a:solidFill>
                <a:latin typeface="Aptos"/>
              </a:rPr>
              <a:t>3FA Beauty Salon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834639" y="3712464"/>
            <a:ext cx="1325880" cy="457200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880359" y="3822192"/>
            <a:ext cx="123443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Rp775M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160520" y="3712464"/>
            <a:ext cx="1371600" cy="457200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206240" y="3822192"/>
            <a:ext cx="12801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Rp185M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532120" y="3712464"/>
            <a:ext cx="1600200" cy="457200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577840" y="3822192"/>
            <a:ext cx="15087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472B6"/>
                </a:solidFill>
                <a:latin typeface="Aptos"/>
              </a:rPr>
              <a:t>Rp129M/month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132320" y="3712464"/>
            <a:ext cx="1600200" cy="457200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178040" y="3822192"/>
            <a:ext cx="15087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Rp55M/month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732520" y="3712464"/>
            <a:ext cx="1828800" cy="457200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778240" y="3822192"/>
            <a:ext cx="17373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472B6"/>
                </a:solidFill>
                <a:latin typeface="Aptos"/>
              </a:rPr>
              <a:t>Rp775M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02920" y="4187952"/>
            <a:ext cx="2331720" cy="457200"/>
          </a:xfrm>
          <a:prstGeom prst="rect">
            <a:avLst/>
          </a:prstGeom>
          <a:solidFill>
            <a:srgbClr val="093036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48640" y="4297680"/>
            <a:ext cx="224027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FFFFFF"/>
                </a:solidFill>
                <a:latin typeface="Aptos"/>
              </a:rPr>
              <a:t>3FB VIP KTV Rooms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834639" y="4187952"/>
            <a:ext cx="1325880" cy="457200"/>
          </a:xfrm>
          <a:prstGeom prst="rect">
            <a:avLst/>
          </a:prstGeom>
          <a:solidFill>
            <a:srgbClr val="093036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880359" y="4297680"/>
            <a:ext cx="123443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Rp2.15B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160520" y="4187952"/>
            <a:ext cx="1371600" cy="457200"/>
          </a:xfrm>
          <a:prstGeom prst="rect">
            <a:avLst/>
          </a:prstGeom>
          <a:solidFill>
            <a:srgbClr val="093036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206240" y="4297680"/>
            <a:ext cx="12801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Rp512M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532120" y="4187952"/>
            <a:ext cx="1600200" cy="457200"/>
          </a:xfrm>
          <a:prstGeom prst="rect">
            <a:avLst/>
          </a:prstGeom>
          <a:solidFill>
            <a:srgbClr val="093036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577840" y="4297680"/>
            <a:ext cx="15087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8D477"/>
                </a:solidFill>
                <a:latin typeface="Aptos"/>
              </a:rPr>
              <a:t>Rp358M/month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132320" y="4187952"/>
            <a:ext cx="1600200" cy="457200"/>
          </a:xfrm>
          <a:prstGeom prst="rect">
            <a:avLst/>
          </a:prstGeom>
          <a:solidFill>
            <a:srgbClr val="093036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178040" y="4297680"/>
            <a:ext cx="15087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Rp154M/month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732520" y="4187952"/>
            <a:ext cx="1828800" cy="457200"/>
          </a:xfrm>
          <a:prstGeom prst="rect">
            <a:avLst/>
          </a:prstGeom>
          <a:solidFill>
            <a:srgbClr val="093036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778240" y="4297680"/>
            <a:ext cx="17373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8D477"/>
                </a:solidFill>
                <a:latin typeface="Aptos"/>
              </a:rPr>
              <a:t>Rp2.15B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02920" y="4663440"/>
            <a:ext cx="2331720" cy="457200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48640" y="4773168"/>
            <a:ext cx="224027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FFFFFF"/>
                </a:solidFill>
                <a:latin typeface="Aptos"/>
              </a:rPr>
              <a:t>4F Pet Cafe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834639" y="4663440"/>
            <a:ext cx="1325880" cy="457200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880359" y="4773168"/>
            <a:ext cx="123443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Rp2.5B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160520" y="4663440"/>
            <a:ext cx="1371600" cy="457200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206240" y="4773168"/>
            <a:ext cx="12801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Rp595M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532120" y="4663440"/>
            <a:ext cx="1600200" cy="457200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577840" y="4773168"/>
            <a:ext cx="15087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34D399"/>
                </a:solidFill>
                <a:latin typeface="Aptos"/>
              </a:rPr>
              <a:t>Rp417M/month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132320" y="4663440"/>
            <a:ext cx="1600200" cy="457200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178040" y="4773168"/>
            <a:ext cx="15087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Rp179M/month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732520" y="4663440"/>
            <a:ext cx="1828800" cy="457200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778240" y="4773168"/>
            <a:ext cx="17373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34D399"/>
                </a:solidFill>
                <a:latin typeface="Aptos"/>
              </a:rPr>
              <a:t>Rp2.5B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02920" y="5138928"/>
            <a:ext cx="2331720" cy="457200"/>
          </a:xfrm>
          <a:prstGeom prst="rect">
            <a:avLst/>
          </a:prstGeom>
          <a:solidFill>
            <a:srgbClr val="093036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48640" y="5248656"/>
            <a:ext cx="224027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FFFFFF"/>
                </a:solidFill>
                <a:latin typeface="Aptos"/>
              </a:rPr>
              <a:t>5F Live House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834639" y="5138928"/>
            <a:ext cx="1325880" cy="457200"/>
          </a:xfrm>
          <a:prstGeom prst="rect">
            <a:avLst/>
          </a:prstGeom>
          <a:solidFill>
            <a:srgbClr val="093036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2880359" y="5248656"/>
            <a:ext cx="123443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Rp3.6B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160520" y="5138928"/>
            <a:ext cx="1371600" cy="457200"/>
          </a:xfrm>
          <a:prstGeom prst="rect">
            <a:avLst/>
          </a:prstGeom>
          <a:solidFill>
            <a:srgbClr val="093036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206240" y="5248656"/>
            <a:ext cx="12801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Rp857M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532120" y="5138928"/>
            <a:ext cx="1600200" cy="457200"/>
          </a:xfrm>
          <a:prstGeom prst="rect">
            <a:avLst/>
          </a:prstGeom>
          <a:solidFill>
            <a:srgbClr val="093036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577840" y="5248656"/>
            <a:ext cx="15087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A78BFA"/>
                </a:solidFill>
                <a:latin typeface="Aptos"/>
              </a:rPr>
              <a:t>Rp600M/month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132320" y="5138928"/>
            <a:ext cx="1600200" cy="457200"/>
          </a:xfrm>
          <a:prstGeom prst="rect">
            <a:avLst/>
          </a:prstGeom>
          <a:solidFill>
            <a:srgbClr val="093036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178040" y="5248656"/>
            <a:ext cx="15087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Rp257M/month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732520" y="5138928"/>
            <a:ext cx="1828800" cy="457200"/>
          </a:xfrm>
          <a:prstGeom prst="rect">
            <a:avLst/>
          </a:prstGeom>
          <a:solidFill>
            <a:srgbClr val="093036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778240" y="5248656"/>
            <a:ext cx="17373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A78BFA"/>
                </a:solidFill>
                <a:latin typeface="Aptos"/>
              </a:rPr>
              <a:t>Rp3.6B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94360" y="5815584"/>
            <a:ext cx="9052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B9CACF"/>
                </a:solidFill>
                <a:latin typeface="Aptos"/>
              </a:rPr>
              <a:t>Projection target: operator recovers setup capital in 6 months; month 7 onward becomes operating profit. Exchange assumption: SGD 1 approx. IDR 13,900.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02920" y="6446520"/>
            <a:ext cx="7132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B9CACF"/>
                </a:solidFill>
                <a:latin typeface="Aptos"/>
              </a:rPr>
              <a:t>Reborn Wave Group | Operator-Investor Deck | IDR main + SGD reference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498079" y="635508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B9CACF"/>
                </a:solidFill>
                <a:latin typeface="Aptos"/>
              </a:rPr>
              <a:t>Return estimates only, not guaranteed returns.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46920" y="-182880"/>
            <a:ext cx="2194560" cy="7223760"/>
          </a:xfrm>
          <a:prstGeom prst="rect">
            <a:avLst/>
          </a:prstGeom>
          <a:solidFill>
            <a:srgbClr val="08373D"/>
          </a:solidFill>
          <a:ln>
            <a:solidFill>
              <a:srgbClr val="08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411480"/>
            <a:ext cx="2103120" cy="2103120"/>
          </a:xfrm>
          <a:prstGeom prst="ellipse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1325880"/>
            <a:ext cx="2103120" cy="2103120"/>
          </a:xfrm>
          <a:prstGeom prst="ellipse">
            <a:avLst/>
          </a:prstGeom>
          <a:solidFill>
            <a:srgbClr val="F8D4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19" y="2240280"/>
            <a:ext cx="2103120" cy="210312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9CACF"/>
                </a:solidFill>
                <a:latin typeface="Aptos"/>
              </a:rPr>
              <a:t>REBORN WAVE GROUP | OPERATOR-INVESTOR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"/>
            <a:ext cx="8503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"/>
              </a:rPr>
              <a:t>1FA Kids Fun House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170432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ACF"/>
                </a:solidFill>
                <a:latin typeface="Aptos"/>
              </a:rPr>
              <a:t>1 unit(s) | 75 sqm | 70% operator / 30% Reborn Wave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146304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682495"/>
            <a:ext cx="1243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472B6"/>
                </a:solidFill>
                <a:latin typeface="Aptos"/>
              </a:rPr>
              <a:t>Rp875M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1984248"/>
            <a:ext cx="1243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Setup IDR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31720" y="1572768"/>
            <a:ext cx="132588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F8D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41448" y="1682495"/>
            <a:ext cx="11064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8D477"/>
                </a:solidFill>
                <a:latin typeface="Aptos"/>
              </a:rPr>
              <a:t>S$63K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41448" y="1984248"/>
            <a:ext cx="11064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Setup SGD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86200" y="1572768"/>
            <a:ext cx="141732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95928" y="1682495"/>
            <a:ext cx="1197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Rp208M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95928" y="1984248"/>
            <a:ext cx="11978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Monthly net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32120" y="1572768"/>
            <a:ext cx="169164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41848" y="1682495"/>
            <a:ext cx="1472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4D399"/>
                </a:solidFill>
                <a:latin typeface="Aptos"/>
              </a:rPr>
              <a:t>Rp146M/month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41848" y="1984248"/>
            <a:ext cx="14721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Operator monthly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52360" y="1572768"/>
            <a:ext cx="150876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F8D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62088" y="1682495"/>
            <a:ext cx="1289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8D477"/>
                </a:solidFill>
                <a:latin typeface="Aptos"/>
              </a:rPr>
              <a:t>Rp62M/month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62088" y="1984248"/>
            <a:ext cx="12893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Reborn monthly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2743200"/>
            <a:ext cx="3063240" cy="2057400"/>
          </a:xfrm>
          <a:prstGeom prst="roundRect">
            <a:avLst/>
          </a:prstGeom>
          <a:solidFill>
            <a:srgbClr val="0D3A41"/>
          </a:solidFill>
          <a:ln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Untitled design (1)_17495835598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907792"/>
            <a:ext cx="2697480" cy="1554480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3977639" y="2743200"/>
            <a:ext cx="2926080" cy="1874519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42231" y="2880360"/>
            <a:ext cx="2596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Aptos"/>
              </a:rPr>
              <a:t>Monthly assumptions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42231" y="3255264"/>
            <a:ext cx="2596896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B9CACF"/>
                </a:solidFill>
                <a:latin typeface="Aptos"/>
              </a:rPr>
              <a:t>Revenue: Rp303M
Operating costs: Rp95M
Net profit before split: Rp208M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78040" y="2743200"/>
            <a:ext cx="3246120" cy="1874519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42631" y="2880360"/>
            <a:ext cx="2916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8D477"/>
                </a:solidFill>
                <a:latin typeface="Aptos"/>
              </a:rPr>
              <a:t>Operator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42631" y="3255264"/>
            <a:ext cx="2916936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B9CACF"/>
                </a:solidFill>
                <a:latin typeface="Aptos"/>
              </a:rPr>
              <a:t>Operator monthly earning: Rp146M/month
Projected capital back: 6 months
Month 7 onward profit: Rp875M per 6 months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5840" y="5010912"/>
            <a:ext cx="9372600" cy="713232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70432" y="5148072"/>
            <a:ext cx="9043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472B6"/>
                </a:solidFill>
                <a:latin typeface="Aptos"/>
              </a:rPr>
              <a:t>Customer engine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" y="5522976"/>
            <a:ext cx="9043416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Family and tourist daytime traffic, prize games, birthday visits, and safe kid-friendly activities.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46520"/>
            <a:ext cx="7132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B9CACF"/>
                </a:solidFill>
                <a:latin typeface="Aptos"/>
              </a:rPr>
              <a:t>Reborn Wave Group | Operator-Investor Deck | IDR main + SGD reference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79" y="635508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B9CACF"/>
                </a:solidFill>
                <a:latin typeface="Aptos"/>
              </a:rPr>
              <a:t>Return estimates only, not guaranteed returns.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46920" y="-182880"/>
            <a:ext cx="2194560" cy="7223760"/>
          </a:xfrm>
          <a:prstGeom prst="rect">
            <a:avLst/>
          </a:prstGeom>
          <a:solidFill>
            <a:srgbClr val="08373D"/>
          </a:solidFill>
          <a:ln>
            <a:solidFill>
              <a:srgbClr val="08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411480"/>
            <a:ext cx="2103120" cy="2103120"/>
          </a:xfrm>
          <a:prstGeom prst="ellipse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1325880"/>
            <a:ext cx="2103120" cy="2103120"/>
          </a:xfrm>
          <a:prstGeom prst="ellipse">
            <a:avLst/>
          </a:prstGeom>
          <a:solidFill>
            <a:srgbClr val="F8D4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19" y="2240280"/>
            <a:ext cx="2103120" cy="210312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9CACF"/>
                </a:solidFill>
                <a:latin typeface="Aptos"/>
              </a:rPr>
              <a:t>REBORN WAVE GROUP | OPERATOR-INVESTOR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"/>
            <a:ext cx="8503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"/>
              </a:rPr>
              <a:t>1FB KTV Lounge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170432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ACF"/>
                </a:solidFill>
                <a:latin typeface="Aptos"/>
              </a:rPr>
              <a:t>2 unit(s) | 150 sqm | 70% operator / 30% Reborn Wave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146304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682495"/>
            <a:ext cx="1243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Rp1.75B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1984248"/>
            <a:ext cx="1243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Setup IDR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31720" y="1572768"/>
            <a:ext cx="132588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F8D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41448" y="1682495"/>
            <a:ext cx="11064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8D477"/>
                </a:solidFill>
                <a:latin typeface="Aptos"/>
              </a:rPr>
              <a:t>S$126K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41448" y="1984248"/>
            <a:ext cx="11064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Setup SGD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86200" y="1572768"/>
            <a:ext cx="141732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95928" y="1682495"/>
            <a:ext cx="1197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Rp417M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95928" y="1984248"/>
            <a:ext cx="11978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Monthly net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32120" y="1572768"/>
            <a:ext cx="169164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41848" y="1682495"/>
            <a:ext cx="1472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4D399"/>
                </a:solidFill>
                <a:latin typeface="Aptos"/>
              </a:rPr>
              <a:t>Rp292M/month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41848" y="1984248"/>
            <a:ext cx="14721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Operator monthly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52360" y="1572768"/>
            <a:ext cx="150876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F8D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62088" y="1682495"/>
            <a:ext cx="1289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8D477"/>
                </a:solidFill>
                <a:latin typeface="Aptos"/>
              </a:rPr>
              <a:t>Rp125M/month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62088" y="1984248"/>
            <a:ext cx="12893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Reborn monthly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2743200"/>
            <a:ext cx="3063240" cy="2057400"/>
          </a:xfrm>
          <a:prstGeom prst="roundRect">
            <a:avLst/>
          </a:prstGeom>
          <a:solidFill>
            <a:srgbClr val="0D3A41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_17645589010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907792"/>
            <a:ext cx="2697480" cy="1554480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3977639" y="2743200"/>
            <a:ext cx="2926080" cy="1874519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42231" y="2880360"/>
            <a:ext cx="2596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Aptos"/>
              </a:rPr>
              <a:t>Monthly assumptions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42231" y="3255264"/>
            <a:ext cx="2596896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B9CACF"/>
                </a:solidFill>
                <a:latin typeface="Aptos"/>
              </a:rPr>
              <a:t>Revenue: Rp622M
Operating costs: Rp205M
Net profit before split: Rp417M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78040" y="2743200"/>
            <a:ext cx="3246120" cy="1874519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42631" y="2880360"/>
            <a:ext cx="2916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8D477"/>
                </a:solidFill>
                <a:latin typeface="Aptos"/>
              </a:rPr>
              <a:t>Operator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42631" y="3255264"/>
            <a:ext cx="2916936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B9CACF"/>
                </a:solidFill>
                <a:latin typeface="Aptos"/>
              </a:rPr>
              <a:t>Operator monthly earning: Rp292M/month
Projected capital back: 6 months
Month 7 onward profit: Rp1.75B per 6 months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5840" y="5010912"/>
            <a:ext cx="9372600" cy="713232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70432" y="5148072"/>
            <a:ext cx="9043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Aptos"/>
              </a:rPr>
              <a:t>Customer engine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" y="5522976"/>
            <a:ext cx="9043416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Open singing, group seating, singing competitions, and social video moments for repeat traffic.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46520"/>
            <a:ext cx="7132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B9CACF"/>
                </a:solidFill>
                <a:latin typeface="Aptos"/>
              </a:rPr>
              <a:t>Reborn Wave Group | Operator-Investor Deck | IDR main + SGD reference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79" y="635508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B9CACF"/>
                </a:solidFill>
                <a:latin typeface="Aptos"/>
              </a:rPr>
              <a:t>Return estimates only, not guaranteed returns.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46920" y="-182880"/>
            <a:ext cx="2194560" cy="7223760"/>
          </a:xfrm>
          <a:prstGeom prst="rect">
            <a:avLst/>
          </a:prstGeom>
          <a:solidFill>
            <a:srgbClr val="08373D"/>
          </a:solidFill>
          <a:ln>
            <a:solidFill>
              <a:srgbClr val="08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411480"/>
            <a:ext cx="2103120" cy="2103120"/>
          </a:xfrm>
          <a:prstGeom prst="ellipse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1325880"/>
            <a:ext cx="2103120" cy="2103120"/>
          </a:xfrm>
          <a:prstGeom prst="ellipse">
            <a:avLst/>
          </a:prstGeom>
          <a:solidFill>
            <a:srgbClr val="F8D4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19" y="2240280"/>
            <a:ext cx="2103120" cy="210312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9CACF"/>
                </a:solidFill>
                <a:latin typeface="Aptos"/>
              </a:rPr>
              <a:t>REBORN WAVE GROUP | OPERATOR-INVESTOR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"/>
            <a:ext cx="8503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"/>
              </a:rPr>
              <a:t>2FA Beauty Salon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170432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ACF"/>
                </a:solidFill>
                <a:latin typeface="Aptos"/>
              </a:rPr>
              <a:t>1 unit(s) | 75 sqm | 70% operator / 30% Reborn Wave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146304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682495"/>
            <a:ext cx="1243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472B6"/>
                </a:solidFill>
                <a:latin typeface="Aptos"/>
              </a:rPr>
              <a:t>Rp775M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1984248"/>
            <a:ext cx="1243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Setup IDR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31720" y="1572768"/>
            <a:ext cx="132588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F8D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41448" y="1682495"/>
            <a:ext cx="11064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8D477"/>
                </a:solidFill>
                <a:latin typeface="Aptos"/>
              </a:rPr>
              <a:t>S$56K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41448" y="1984248"/>
            <a:ext cx="11064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Setup SGD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86200" y="1572768"/>
            <a:ext cx="141732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95928" y="1682495"/>
            <a:ext cx="1197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Rp185M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95928" y="1984248"/>
            <a:ext cx="11978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Monthly net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32120" y="1572768"/>
            <a:ext cx="169164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41848" y="1682495"/>
            <a:ext cx="1472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4D399"/>
                </a:solidFill>
                <a:latin typeface="Aptos"/>
              </a:rPr>
              <a:t>Rp129M/month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41848" y="1984248"/>
            <a:ext cx="14721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Operator monthly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52360" y="1572768"/>
            <a:ext cx="150876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F8D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62088" y="1682495"/>
            <a:ext cx="1289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8D477"/>
                </a:solidFill>
                <a:latin typeface="Aptos"/>
              </a:rPr>
              <a:t>Rp55M/month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62088" y="1984248"/>
            <a:ext cx="12893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Reborn monthly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2743200"/>
            <a:ext cx="3063240" cy="2057400"/>
          </a:xfrm>
          <a:prstGeom prst="roundRect">
            <a:avLst/>
          </a:prstGeom>
          <a:solidFill>
            <a:srgbClr val="0D3A41"/>
          </a:solidFill>
          <a:ln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_17645742857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907792"/>
            <a:ext cx="2697480" cy="1554480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3977639" y="2743200"/>
            <a:ext cx="2926080" cy="1874519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42231" y="2880360"/>
            <a:ext cx="2596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Aptos"/>
              </a:rPr>
              <a:t>Monthly assumptions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42231" y="3255264"/>
            <a:ext cx="2596896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B9CACF"/>
                </a:solidFill>
                <a:latin typeface="Aptos"/>
              </a:rPr>
              <a:t>Revenue: Rp270M
Operating costs: Rp85M
Net profit before split: Rp185M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78040" y="2743200"/>
            <a:ext cx="3246120" cy="1874519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42631" y="2880360"/>
            <a:ext cx="2916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8D477"/>
                </a:solidFill>
                <a:latin typeface="Aptos"/>
              </a:rPr>
              <a:t>Operator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42631" y="3255264"/>
            <a:ext cx="2916936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B9CACF"/>
                </a:solidFill>
                <a:latin typeface="Aptos"/>
              </a:rPr>
              <a:t>Operator monthly earning: Rp129M/month
Projected capital back: 6 months
Month 7 onward profit: Rp775M per 6 months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5840" y="5010912"/>
            <a:ext cx="9372600" cy="713232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70432" y="5148072"/>
            <a:ext cx="9043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472B6"/>
                </a:solidFill>
                <a:latin typeface="Aptos"/>
              </a:rPr>
              <a:t>Customer engine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" y="5522976"/>
            <a:ext cx="9043416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Repeat appointments, group makeovers, event prep, and cross-traffic from KTV guests.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46520"/>
            <a:ext cx="7132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B9CACF"/>
                </a:solidFill>
                <a:latin typeface="Aptos"/>
              </a:rPr>
              <a:t>Reborn Wave Group | Operator-Investor Deck | IDR main + SGD reference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79" y="635508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B9CACF"/>
                </a:solidFill>
                <a:latin typeface="Aptos"/>
              </a:rPr>
              <a:t>Return estimates only, not guaranteed returns.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46920" y="-182880"/>
            <a:ext cx="2194560" cy="7223760"/>
          </a:xfrm>
          <a:prstGeom prst="rect">
            <a:avLst/>
          </a:prstGeom>
          <a:solidFill>
            <a:srgbClr val="08373D"/>
          </a:solidFill>
          <a:ln>
            <a:solidFill>
              <a:srgbClr val="08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411480"/>
            <a:ext cx="2103120" cy="2103120"/>
          </a:xfrm>
          <a:prstGeom prst="ellipse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1325880"/>
            <a:ext cx="2103120" cy="2103120"/>
          </a:xfrm>
          <a:prstGeom prst="ellipse">
            <a:avLst/>
          </a:prstGeom>
          <a:solidFill>
            <a:srgbClr val="F8D4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19" y="2240280"/>
            <a:ext cx="2103120" cy="210312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9CACF"/>
                </a:solidFill>
                <a:latin typeface="Aptos"/>
              </a:rPr>
              <a:t>REBORN WAVE GROUP | OPERATOR-INVESTOR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"/>
            <a:ext cx="8503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"/>
              </a:rPr>
              <a:t>2FB Private KTV Rooms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170432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ACF"/>
                </a:solidFill>
                <a:latin typeface="Aptos"/>
              </a:rPr>
              <a:t>2 unit(s) | 150 sqm | 70% operator / 30% Reborn Wave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146304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682495"/>
            <a:ext cx="1243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Rp1.9B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1984248"/>
            <a:ext cx="1243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Setup IDR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31720" y="1572768"/>
            <a:ext cx="132588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F8D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41448" y="1682495"/>
            <a:ext cx="11064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8D477"/>
                </a:solidFill>
                <a:latin typeface="Aptos"/>
              </a:rPr>
              <a:t>S$137K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41448" y="1984248"/>
            <a:ext cx="11064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Setup SGD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86200" y="1572768"/>
            <a:ext cx="141732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95928" y="1682495"/>
            <a:ext cx="1197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Rp452M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95928" y="1984248"/>
            <a:ext cx="11978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Monthly net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32120" y="1572768"/>
            <a:ext cx="169164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41848" y="1682495"/>
            <a:ext cx="1472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4D399"/>
                </a:solidFill>
                <a:latin typeface="Aptos"/>
              </a:rPr>
              <a:t>Rp317M/month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41848" y="1984248"/>
            <a:ext cx="14721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Operator monthly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52360" y="1572768"/>
            <a:ext cx="150876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F8D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62088" y="1682495"/>
            <a:ext cx="1289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8D477"/>
                </a:solidFill>
                <a:latin typeface="Aptos"/>
              </a:rPr>
              <a:t>Rp136M/month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62088" y="1984248"/>
            <a:ext cx="12893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Reborn monthly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2743200"/>
            <a:ext cx="3063240" cy="2057400"/>
          </a:xfrm>
          <a:prstGeom prst="roundRect">
            <a:avLst/>
          </a:prstGeom>
          <a:solidFill>
            <a:srgbClr val="0D3A41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_17645742857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907792"/>
            <a:ext cx="2697480" cy="1554480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3977639" y="2743200"/>
            <a:ext cx="2926080" cy="1874519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42231" y="2880360"/>
            <a:ext cx="2596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Aptos"/>
              </a:rPr>
              <a:t>Monthly assumptions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42231" y="3255264"/>
            <a:ext cx="2596896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B9CACF"/>
                </a:solidFill>
                <a:latin typeface="Aptos"/>
              </a:rPr>
              <a:t>Revenue: Rp687M
Operating costs: Rp235M
Net profit before split: Rp452M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78040" y="2743200"/>
            <a:ext cx="3246120" cy="1874519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42631" y="2880360"/>
            <a:ext cx="2916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8D477"/>
                </a:solidFill>
                <a:latin typeface="Aptos"/>
              </a:rPr>
              <a:t>Operator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42631" y="3255264"/>
            <a:ext cx="2916936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B9CACF"/>
                </a:solidFill>
                <a:latin typeface="Aptos"/>
              </a:rPr>
              <a:t>Operator monthly earning: Rp317M/month
Projected capital back: 6 months
Month 7 onward profit: Rp1.9B per 6 months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5840" y="5010912"/>
            <a:ext cx="9372600" cy="713232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70432" y="5148072"/>
            <a:ext cx="9043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Aptos"/>
              </a:rPr>
              <a:t>Customer engine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" y="5522976"/>
            <a:ext cx="9043416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Four bookable rooms for birthdays, friend groups, customer hosting, and private celebrations.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46520"/>
            <a:ext cx="7132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B9CACF"/>
                </a:solidFill>
                <a:latin typeface="Aptos"/>
              </a:rPr>
              <a:t>Reborn Wave Group | Operator-Investor Deck | IDR main + SGD reference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79" y="635508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B9CACF"/>
                </a:solidFill>
                <a:latin typeface="Aptos"/>
              </a:rPr>
              <a:t>Return estimates only, not guaranteed returns.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46920" y="-182880"/>
            <a:ext cx="2194560" cy="7223760"/>
          </a:xfrm>
          <a:prstGeom prst="rect">
            <a:avLst/>
          </a:prstGeom>
          <a:solidFill>
            <a:srgbClr val="08373D"/>
          </a:solidFill>
          <a:ln>
            <a:solidFill>
              <a:srgbClr val="08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411480"/>
            <a:ext cx="2103120" cy="2103120"/>
          </a:xfrm>
          <a:prstGeom prst="ellipse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1325880"/>
            <a:ext cx="2103120" cy="2103120"/>
          </a:xfrm>
          <a:prstGeom prst="ellipse">
            <a:avLst/>
          </a:prstGeom>
          <a:solidFill>
            <a:srgbClr val="F8D4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19" y="2240280"/>
            <a:ext cx="2103120" cy="210312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9CACF"/>
                </a:solidFill>
                <a:latin typeface="Aptos"/>
              </a:rPr>
              <a:t>REBORN WAVE GROUP | OPERATOR-INVESTOR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"/>
            <a:ext cx="8503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"/>
              </a:rPr>
              <a:t>3FA Beauty Salon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170432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ACF"/>
                </a:solidFill>
                <a:latin typeface="Aptos"/>
              </a:rPr>
              <a:t>1 unit(s) | 75 sqm | 70% operator / 30% Reborn Wave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146304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682495"/>
            <a:ext cx="1243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472B6"/>
                </a:solidFill>
                <a:latin typeface="Aptos"/>
              </a:rPr>
              <a:t>Rp775M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1984248"/>
            <a:ext cx="1243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Setup IDR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31720" y="1572768"/>
            <a:ext cx="132588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F8D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41448" y="1682495"/>
            <a:ext cx="11064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8D477"/>
                </a:solidFill>
                <a:latin typeface="Aptos"/>
              </a:rPr>
              <a:t>S$56K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41448" y="1984248"/>
            <a:ext cx="11064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Setup SGD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86200" y="1572768"/>
            <a:ext cx="141732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95928" y="1682495"/>
            <a:ext cx="1197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Rp185M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95928" y="1984248"/>
            <a:ext cx="11978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Monthly net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32120" y="1572768"/>
            <a:ext cx="169164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41848" y="1682495"/>
            <a:ext cx="1472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4D399"/>
                </a:solidFill>
                <a:latin typeface="Aptos"/>
              </a:rPr>
              <a:t>Rp129M/month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41848" y="1984248"/>
            <a:ext cx="14721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Operator monthly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52360" y="1572768"/>
            <a:ext cx="150876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F8D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62088" y="1682495"/>
            <a:ext cx="1289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8D477"/>
                </a:solidFill>
                <a:latin typeface="Aptos"/>
              </a:rPr>
              <a:t>Rp55M/month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62088" y="1984248"/>
            <a:ext cx="12893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Reborn monthly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2743200"/>
            <a:ext cx="3063240" cy="2057400"/>
          </a:xfrm>
          <a:prstGeom prst="roundRect">
            <a:avLst/>
          </a:prstGeom>
          <a:solidFill>
            <a:srgbClr val="0D3A41"/>
          </a:solidFill>
          <a:ln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_17645742857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907792"/>
            <a:ext cx="2697480" cy="1554480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3977639" y="2743200"/>
            <a:ext cx="2926080" cy="1874519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42231" y="2880360"/>
            <a:ext cx="2596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Aptos"/>
              </a:rPr>
              <a:t>Monthly assumptions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42231" y="3255264"/>
            <a:ext cx="2596896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B9CACF"/>
                </a:solidFill>
                <a:latin typeface="Aptos"/>
              </a:rPr>
              <a:t>Revenue: Rp275M
Operating costs: Rp90M
Net profit before split: Rp185M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78040" y="2743200"/>
            <a:ext cx="3246120" cy="1874519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42631" y="2880360"/>
            <a:ext cx="2916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8D477"/>
                </a:solidFill>
                <a:latin typeface="Aptos"/>
              </a:rPr>
              <a:t>Operator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42631" y="3255264"/>
            <a:ext cx="2916936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B9CACF"/>
                </a:solidFill>
                <a:latin typeface="Aptos"/>
              </a:rPr>
              <a:t>Operator monthly earning: Rp129M/month
Projected capital back: 6 months
Month 7 onward profit: Rp775M per 6 months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5840" y="5010912"/>
            <a:ext cx="9372600" cy="713232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70432" y="5148072"/>
            <a:ext cx="9043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472B6"/>
                </a:solidFill>
                <a:latin typeface="Aptos"/>
              </a:rPr>
              <a:t>Customer engine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" y="5522976"/>
            <a:ext cx="9043416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Beauty service beside VIP KTV supports premium guests, event prep, and recurring spend.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46520"/>
            <a:ext cx="7132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B9CACF"/>
                </a:solidFill>
                <a:latin typeface="Aptos"/>
              </a:rPr>
              <a:t>Reborn Wave Group | Operator-Investor Deck | IDR main + SGD reference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79" y="635508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B9CACF"/>
                </a:solidFill>
                <a:latin typeface="Aptos"/>
              </a:rPr>
              <a:t>Return estimates only, not guaranteed returns.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46920" y="-182880"/>
            <a:ext cx="2194560" cy="7223760"/>
          </a:xfrm>
          <a:prstGeom prst="rect">
            <a:avLst/>
          </a:prstGeom>
          <a:solidFill>
            <a:srgbClr val="08373D"/>
          </a:solidFill>
          <a:ln>
            <a:solidFill>
              <a:srgbClr val="08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411480"/>
            <a:ext cx="2103120" cy="2103120"/>
          </a:xfrm>
          <a:prstGeom prst="ellipse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1325880"/>
            <a:ext cx="2103120" cy="2103120"/>
          </a:xfrm>
          <a:prstGeom prst="ellipse">
            <a:avLst/>
          </a:prstGeom>
          <a:solidFill>
            <a:srgbClr val="F8D4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19" y="2240280"/>
            <a:ext cx="2103120" cy="210312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9CACF"/>
                </a:solidFill>
                <a:latin typeface="Aptos"/>
              </a:rPr>
              <a:t>REBORN WAVE GROUP | OPERATOR-INVESTOR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"/>
            <a:ext cx="8503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"/>
              </a:rPr>
              <a:t>3FB VIP KTV Rooms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170432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ACF"/>
                </a:solidFill>
                <a:latin typeface="Aptos"/>
              </a:rPr>
              <a:t>2 unit(s) | 150 sqm | 70% operator / 30% Reborn Wave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146304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F8D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682495"/>
            <a:ext cx="1243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8D477"/>
                </a:solidFill>
                <a:latin typeface="Aptos"/>
              </a:rPr>
              <a:t>Rp2.15B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1984248"/>
            <a:ext cx="1243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Setup IDR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31720" y="1572768"/>
            <a:ext cx="132588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F8D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41448" y="1682495"/>
            <a:ext cx="11064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8D477"/>
                </a:solidFill>
                <a:latin typeface="Aptos"/>
              </a:rPr>
              <a:t>S$155K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41448" y="1984248"/>
            <a:ext cx="11064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Setup SGD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86200" y="1572768"/>
            <a:ext cx="141732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95928" y="1682495"/>
            <a:ext cx="1197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Rp512M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95928" y="1984248"/>
            <a:ext cx="11978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Monthly net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32120" y="1572768"/>
            <a:ext cx="169164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41848" y="1682495"/>
            <a:ext cx="1472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4D399"/>
                </a:solidFill>
                <a:latin typeface="Aptos"/>
              </a:rPr>
              <a:t>Rp358M/month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41848" y="1984248"/>
            <a:ext cx="14721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Operator monthly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52360" y="1572768"/>
            <a:ext cx="150876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F8D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62088" y="1682495"/>
            <a:ext cx="1289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8D477"/>
                </a:solidFill>
                <a:latin typeface="Aptos"/>
              </a:rPr>
              <a:t>Rp154M/month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62088" y="1984248"/>
            <a:ext cx="12893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Reborn monthly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2743200"/>
            <a:ext cx="3063240" cy="2057400"/>
          </a:xfrm>
          <a:prstGeom prst="roundRect">
            <a:avLst/>
          </a:prstGeom>
          <a:solidFill>
            <a:srgbClr val="0D3A41"/>
          </a:solidFill>
          <a:ln>
            <a:solidFill>
              <a:srgbClr val="F8D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_17645742857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907792"/>
            <a:ext cx="2697480" cy="1554480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3977639" y="2743200"/>
            <a:ext cx="2926080" cy="1874519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42231" y="2880360"/>
            <a:ext cx="2596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Aptos"/>
              </a:rPr>
              <a:t>Monthly assumptions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42231" y="3255264"/>
            <a:ext cx="2596896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B9CACF"/>
                </a:solidFill>
                <a:latin typeface="Aptos"/>
              </a:rPr>
              <a:t>Revenue: Rp782M
Operating costs: Rp270M
Net profit before split: Rp512M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78040" y="2743200"/>
            <a:ext cx="3246120" cy="1874519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42631" y="2880360"/>
            <a:ext cx="2916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8D477"/>
                </a:solidFill>
                <a:latin typeface="Aptos"/>
              </a:rPr>
              <a:t>Operator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42631" y="3255264"/>
            <a:ext cx="2916936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B9CACF"/>
                </a:solidFill>
                <a:latin typeface="Aptos"/>
              </a:rPr>
              <a:t>Operator monthly earning: Rp358M/month
Projected capital back: 6 months
Month 7 onward profit: Rp2.15B per 6 months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5840" y="5010912"/>
            <a:ext cx="9372600" cy="713232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70432" y="5148072"/>
            <a:ext cx="9043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8D477"/>
                </a:solidFill>
                <a:latin typeface="Aptos"/>
              </a:rPr>
              <a:t>Customer engine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" y="5522976"/>
            <a:ext cx="9043416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Two premium rooms for VIP groups, business hosting, birthday events, and higher table spend.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46520"/>
            <a:ext cx="7132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B9CACF"/>
                </a:solidFill>
                <a:latin typeface="Aptos"/>
              </a:rPr>
              <a:t>Reborn Wave Group | Operator-Investor Deck | IDR main + SGD reference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79" y="635508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B9CACF"/>
                </a:solidFill>
                <a:latin typeface="Aptos"/>
              </a:rPr>
              <a:t>Return estimates only, not guaranteed returns.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46920" y="-182880"/>
            <a:ext cx="2194560" cy="7223760"/>
          </a:xfrm>
          <a:prstGeom prst="rect">
            <a:avLst/>
          </a:prstGeom>
          <a:solidFill>
            <a:srgbClr val="08373D"/>
          </a:solidFill>
          <a:ln>
            <a:solidFill>
              <a:srgbClr val="08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411480"/>
            <a:ext cx="2103120" cy="2103120"/>
          </a:xfrm>
          <a:prstGeom prst="ellipse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1325880"/>
            <a:ext cx="2103120" cy="2103120"/>
          </a:xfrm>
          <a:prstGeom prst="ellipse">
            <a:avLst/>
          </a:prstGeom>
          <a:solidFill>
            <a:srgbClr val="F8D4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19" y="2240280"/>
            <a:ext cx="2103120" cy="210312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9CACF"/>
                </a:solidFill>
                <a:latin typeface="Aptos"/>
              </a:rPr>
              <a:t>REBORN WAVE GROUP | OPERATOR-INVESTOR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"/>
            <a:ext cx="8503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"/>
              </a:rPr>
              <a:t>4F Pet Cafe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170432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ACF"/>
                </a:solidFill>
                <a:latin typeface="Aptos"/>
              </a:rPr>
              <a:t>3 unit(s) | 225 sqm | 70% operator / 30% Reborn Wave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146304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682495"/>
            <a:ext cx="1243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4D399"/>
                </a:solidFill>
                <a:latin typeface="Aptos"/>
              </a:rPr>
              <a:t>Rp2.5B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1984248"/>
            <a:ext cx="1243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Setup IDR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31720" y="1572768"/>
            <a:ext cx="132588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F8D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41448" y="1682495"/>
            <a:ext cx="11064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8D477"/>
                </a:solidFill>
                <a:latin typeface="Aptos"/>
              </a:rPr>
              <a:t>S$180K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41448" y="1984248"/>
            <a:ext cx="11064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Setup SGD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86200" y="1572768"/>
            <a:ext cx="141732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95928" y="1682495"/>
            <a:ext cx="1197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Rp595M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95928" y="1984248"/>
            <a:ext cx="11978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Monthly net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32120" y="1572768"/>
            <a:ext cx="169164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41848" y="1682495"/>
            <a:ext cx="1472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4D399"/>
                </a:solidFill>
                <a:latin typeface="Aptos"/>
              </a:rPr>
              <a:t>Rp417M/month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41848" y="1984248"/>
            <a:ext cx="14721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Operator monthly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52360" y="1572768"/>
            <a:ext cx="150876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F8D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62088" y="1682495"/>
            <a:ext cx="1289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8D477"/>
                </a:solidFill>
                <a:latin typeface="Aptos"/>
              </a:rPr>
              <a:t>Rp179M/month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62088" y="1984248"/>
            <a:ext cx="12893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Reborn monthly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2743200"/>
            <a:ext cx="3063240" cy="2057400"/>
          </a:xfrm>
          <a:prstGeom prst="roundRect">
            <a:avLst/>
          </a:prstGeom>
          <a:solidFill>
            <a:srgbClr val="0D3A41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doluruu-blindbox-box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907792"/>
            <a:ext cx="2697480" cy="1554480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3977639" y="2743200"/>
            <a:ext cx="2926080" cy="1874519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42231" y="2880360"/>
            <a:ext cx="2596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Aptos"/>
              </a:rPr>
              <a:t>Monthly assumptions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42231" y="3255264"/>
            <a:ext cx="2596896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B9CACF"/>
                </a:solidFill>
                <a:latin typeface="Aptos"/>
              </a:rPr>
              <a:t>Revenue: Rp925M
Operating costs: Rp330M
Net profit before split: Rp595M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78040" y="2743200"/>
            <a:ext cx="3246120" cy="1874519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42631" y="2880360"/>
            <a:ext cx="2916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8D477"/>
                </a:solidFill>
                <a:latin typeface="Aptos"/>
              </a:rPr>
              <a:t>Operator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42631" y="3255264"/>
            <a:ext cx="2916936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B9CACF"/>
                </a:solidFill>
                <a:latin typeface="Aptos"/>
              </a:rPr>
              <a:t>Operator monthly earning: Rp417M/month
Projected capital back: 6 months
Month 7 onward profit: Rp2.5B per 6 months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5840" y="5010912"/>
            <a:ext cx="9372600" cy="713232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70432" y="5148072"/>
            <a:ext cx="9043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4D399"/>
                </a:solidFill>
                <a:latin typeface="Aptos"/>
              </a:rPr>
              <a:t>Customer engine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" y="5522976"/>
            <a:ext cx="9043416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Food, drinks, pet community, blindbox tie-ins, photo content, and family-friendly visits.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46520"/>
            <a:ext cx="7132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B9CACF"/>
                </a:solidFill>
                <a:latin typeface="Aptos"/>
              </a:rPr>
              <a:t>Reborn Wave Group | Operator-Investor Deck | IDR main + SGD reference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79" y="635508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B9CACF"/>
                </a:solidFill>
                <a:latin typeface="Aptos"/>
              </a:rPr>
              <a:t>Return estimates only, not guaranteed returns.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46920" y="-182880"/>
            <a:ext cx="2194560" cy="7223760"/>
          </a:xfrm>
          <a:prstGeom prst="rect">
            <a:avLst/>
          </a:prstGeom>
          <a:solidFill>
            <a:srgbClr val="08373D"/>
          </a:solidFill>
          <a:ln>
            <a:solidFill>
              <a:srgbClr val="08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411480"/>
            <a:ext cx="2103120" cy="2103120"/>
          </a:xfrm>
          <a:prstGeom prst="ellipse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1325880"/>
            <a:ext cx="2103120" cy="2103120"/>
          </a:xfrm>
          <a:prstGeom prst="ellipse">
            <a:avLst/>
          </a:prstGeom>
          <a:solidFill>
            <a:srgbClr val="F8D4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19" y="2240280"/>
            <a:ext cx="2103120" cy="210312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9CACF"/>
                </a:solidFill>
                <a:latin typeface="Aptos"/>
              </a:rPr>
              <a:t>REBORN WAVE GROUP | OPERATOR-INVESTOR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"/>
            <a:ext cx="8503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"/>
              </a:rPr>
              <a:t>5F Live House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170432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ACF"/>
                </a:solidFill>
                <a:latin typeface="Aptos"/>
              </a:rPr>
              <a:t>3 unit(s) | 225 sqm | 70% operator / 30% Reborn Wave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146304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682495"/>
            <a:ext cx="1243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78BFA"/>
                </a:solidFill>
                <a:latin typeface="Aptos"/>
              </a:rPr>
              <a:t>Rp3.6B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1984248"/>
            <a:ext cx="1243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Setup IDR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31720" y="1572768"/>
            <a:ext cx="132588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F8D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41448" y="1682495"/>
            <a:ext cx="11064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8D477"/>
                </a:solidFill>
                <a:latin typeface="Aptos"/>
              </a:rPr>
              <a:t>S$259K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41448" y="1984248"/>
            <a:ext cx="11064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Setup SGD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86200" y="1572768"/>
            <a:ext cx="141732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95928" y="1682495"/>
            <a:ext cx="1197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Rp857M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95928" y="1984248"/>
            <a:ext cx="11978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Monthly net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32120" y="1572768"/>
            <a:ext cx="169164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41848" y="1682495"/>
            <a:ext cx="1472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4D399"/>
                </a:solidFill>
                <a:latin typeface="Aptos"/>
              </a:rPr>
              <a:t>Rp600M/month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41848" y="1984248"/>
            <a:ext cx="14721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Operator monthly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52360" y="1572768"/>
            <a:ext cx="150876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F8D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62088" y="1682495"/>
            <a:ext cx="1289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8D477"/>
                </a:solidFill>
                <a:latin typeface="Aptos"/>
              </a:rPr>
              <a:t>Rp257M/month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62088" y="1984248"/>
            <a:ext cx="12893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Reborn monthly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2743200"/>
            <a:ext cx="3063240" cy="2057400"/>
          </a:xfrm>
          <a:prstGeom prst="roundRect">
            <a:avLst/>
          </a:prstGeom>
          <a:solidFill>
            <a:srgbClr val="0D3A41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Untitled design (1)_17495835598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907792"/>
            <a:ext cx="2697480" cy="1554480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3977639" y="2743200"/>
            <a:ext cx="2926080" cy="1874519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42231" y="2880360"/>
            <a:ext cx="2596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Aptos"/>
              </a:rPr>
              <a:t>Monthly assumptions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42231" y="3255264"/>
            <a:ext cx="2596896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B9CACF"/>
                </a:solidFill>
                <a:latin typeface="Aptos"/>
              </a:rPr>
              <a:t>Revenue: Rp1.407B
Operating costs: Rp550M
Net profit before split: Rp857M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78040" y="2743200"/>
            <a:ext cx="3246120" cy="1874519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42631" y="2880360"/>
            <a:ext cx="2916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8D477"/>
                </a:solidFill>
                <a:latin typeface="Aptos"/>
              </a:rPr>
              <a:t>Operator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42631" y="3255264"/>
            <a:ext cx="2916936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B9CACF"/>
                </a:solidFill>
                <a:latin typeface="Aptos"/>
              </a:rPr>
              <a:t>Operator monthly earning: Rp600M/month
Projected capital back: 6 months
Month 7 onward profit: Rp3.6B per 6 months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5840" y="5010912"/>
            <a:ext cx="9372600" cy="713232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70432" y="5148072"/>
            <a:ext cx="9043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A78BFA"/>
                </a:solidFill>
                <a:latin typeface="Aptos"/>
              </a:rPr>
              <a:t>Customer engine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" y="5522976"/>
            <a:ext cx="9043416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Live band, performances, dance floor, sea-view events, premium tables, and nightlife traffic.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46520"/>
            <a:ext cx="7132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B9CACF"/>
                </a:solidFill>
                <a:latin typeface="Aptos"/>
              </a:rPr>
              <a:t>Reborn Wave Group | Operator-Investor Deck | IDR main + SGD reference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79" y="635508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B9CACF"/>
                </a:solidFill>
                <a:latin typeface="Aptos"/>
              </a:rPr>
              <a:t>Return estimates only, not guaranteed returns.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46920" y="-182880"/>
            <a:ext cx="2194560" cy="7223760"/>
          </a:xfrm>
          <a:prstGeom prst="rect">
            <a:avLst/>
          </a:prstGeom>
          <a:solidFill>
            <a:srgbClr val="08373D"/>
          </a:solidFill>
          <a:ln>
            <a:solidFill>
              <a:srgbClr val="08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411480"/>
            <a:ext cx="2103120" cy="2103120"/>
          </a:xfrm>
          <a:prstGeom prst="ellipse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1325880"/>
            <a:ext cx="2103120" cy="2103120"/>
          </a:xfrm>
          <a:prstGeom prst="ellipse">
            <a:avLst/>
          </a:prstGeom>
          <a:solidFill>
            <a:srgbClr val="F8D4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19" y="2240280"/>
            <a:ext cx="2103120" cy="210312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9CACF"/>
                </a:solidFill>
                <a:latin typeface="Aptos"/>
              </a:rPr>
              <a:t>REBORN WAVE GROUP | OPERATOR-INVESTOR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"/>
            <a:ext cx="8503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"/>
              </a:rPr>
              <a:t>Reborn Wave Revenue Projection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170432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ACF"/>
                </a:solidFill>
                <a:latin typeface="Aptos"/>
              </a:rPr>
              <a:t>Reborn receives 30% of each operator's monthly net profit after verified reporting.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645920"/>
            <a:ext cx="256032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F8D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755648"/>
            <a:ext cx="234086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8D477"/>
                </a:solidFill>
                <a:latin typeface="Aptos"/>
              </a:rPr>
              <a:t>Rp1.02B/month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057400"/>
            <a:ext cx="234086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Monthly Reborn profit share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1645920"/>
            <a:ext cx="256032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67328" y="1755648"/>
            <a:ext cx="234086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Rp12.28B/year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67328" y="2057400"/>
            <a:ext cx="234086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Annual Reborn profit share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1645920"/>
            <a:ext cx="219456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47688" y="1755648"/>
            <a:ext cx="19751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4D399"/>
                </a:solidFill>
                <a:latin typeface="Aptos"/>
              </a:rPr>
              <a:t>S$884K/year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7688" y="2057400"/>
            <a:ext cx="19751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SGD reference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2971800"/>
            <a:ext cx="4754880" cy="1554480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3108960"/>
            <a:ext cx="44256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Aptos"/>
              </a:rPr>
              <a:t>Why the model works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3483864"/>
            <a:ext cx="4425696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B9CACF"/>
                </a:solidFill>
                <a:latin typeface="Aptos"/>
              </a:rPr>
              <a:t>Operators carry setup and operating costs. The base case targets capital back in 6 months, then month 7 onward profit while Reborn monetizes location, brand, traffic, and systems.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97880" y="2971800"/>
            <a:ext cx="4343400" cy="1554480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62472" y="3108960"/>
            <a:ext cx="40142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8D477"/>
                </a:solidFill>
                <a:latin typeface="Aptos"/>
              </a:rPr>
              <a:t>Portfolio logic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62472" y="3483864"/>
            <a:ext cx="40142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B9CACF"/>
                </a:solidFill>
                <a:latin typeface="Aptos"/>
              </a:rPr>
              <a:t>Multiple verticals reduce reliance on one business type: family traffic, beauty appointments, KTV bookings, pet cafe visits, and live events.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46520"/>
            <a:ext cx="7132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B9CACF"/>
                </a:solidFill>
                <a:latin typeface="Aptos"/>
              </a:rPr>
              <a:t>Reborn Wave Group | Operator-Investor Deck | IDR main + SGD reference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635508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B9CACF"/>
                </a:solidFill>
                <a:latin typeface="Aptos"/>
              </a:rPr>
              <a:t>Return estimates only, not guaranteed returns.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46920" y="-182880"/>
            <a:ext cx="2194560" cy="7223760"/>
          </a:xfrm>
          <a:prstGeom prst="rect">
            <a:avLst/>
          </a:prstGeom>
          <a:solidFill>
            <a:srgbClr val="08373D"/>
          </a:solidFill>
          <a:ln>
            <a:solidFill>
              <a:srgbClr val="08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411480"/>
            <a:ext cx="2103120" cy="2103120"/>
          </a:xfrm>
          <a:prstGeom prst="ellipse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1325880"/>
            <a:ext cx="2103120" cy="2103120"/>
          </a:xfrm>
          <a:prstGeom prst="ellipse">
            <a:avLst/>
          </a:prstGeom>
          <a:solidFill>
            <a:srgbClr val="F8D4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19" y="2240280"/>
            <a:ext cx="2103120" cy="210312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9CACF"/>
                </a:solidFill>
                <a:latin typeface="Aptos"/>
              </a:rPr>
              <a:t>REBORN WAVE GROUP | OPERATOR-INVESTOR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"/>
            <a:ext cx="8503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"/>
              </a:rPr>
              <a:t>Marketing + Traffic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170432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ACF"/>
                </a:solidFill>
                <a:latin typeface="Aptos"/>
              </a:rPr>
              <a:t>Create repeat reasons to visit, post, book, and bring groups.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08760"/>
            <a:ext cx="3291840" cy="1170432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1645919"/>
            <a:ext cx="29626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Aptos"/>
              </a:rPr>
              <a:t>Singing competitions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2020824"/>
            <a:ext cx="29626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B9CACF"/>
                </a:solidFill>
                <a:latin typeface="Aptos"/>
              </a:rPr>
              <a:t>Weekly competition content, finalists, voting, prize moments, and live audience energy.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508760"/>
            <a:ext cx="3291840" cy="1170432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645919"/>
            <a:ext cx="29626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8D477"/>
                </a:solidFill>
                <a:latin typeface="Aptos"/>
              </a:rPr>
              <a:t>Tourist + family packages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020824"/>
            <a:ext cx="29626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B9CACF"/>
                </a:solidFill>
                <a:latin typeface="Aptos"/>
              </a:rPr>
              <a:t>Bundled routes for kids fun house, KTV, pet cafe, beauty, and live house nights.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1508760"/>
            <a:ext cx="3291840" cy="1170432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1" y="1645919"/>
            <a:ext cx="29626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4D399"/>
                </a:solidFill>
                <a:latin typeface="Aptos"/>
              </a:rPr>
              <a:t>Birthday + private events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1" y="2020824"/>
            <a:ext cx="29626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B9CACF"/>
                </a:solidFill>
                <a:latin typeface="Aptos"/>
              </a:rPr>
              <a:t>Private KTV rooms, VIP hosting, live band packages, and table reservations.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108960"/>
            <a:ext cx="3291840" cy="1170432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1" y="3246120"/>
            <a:ext cx="29626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472B6"/>
                </a:solidFill>
                <a:latin typeface="Aptos"/>
              </a:rPr>
              <a:t>Performance calendar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" y="3621024"/>
            <a:ext cx="29626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B9CACF"/>
                </a:solidFill>
                <a:latin typeface="Aptos"/>
              </a:rPr>
              <a:t>Live bands, dancers, creators, guest singers, and sea-view theme nights.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3108960"/>
            <a:ext cx="3291840" cy="1170432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07992" y="3246120"/>
            <a:ext cx="29626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Aptos"/>
              </a:rPr>
              <a:t>TikTok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7992" y="3621024"/>
            <a:ext cx="29626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B9CACF"/>
                </a:solidFill>
                <a:latin typeface="Aptos"/>
              </a:rPr>
              <a:t>@reborn.wave.group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19" y="3108960"/>
            <a:ext cx="3291840" cy="1170432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1" y="3246120"/>
            <a:ext cx="29626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A78BFA"/>
                </a:solidFill>
                <a:latin typeface="Aptos"/>
              </a:rPr>
              <a:t>Instagram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1" y="3621024"/>
            <a:ext cx="29626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B9CACF"/>
                </a:solidFill>
                <a:latin typeface="Aptos"/>
              </a:rPr>
              <a:t>@rebornwavegroup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7132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B9CACF"/>
                </a:solidFill>
                <a:latin typeface="Aptos"/>
              </a:rPr>
              <a:t>Reborn Wave Group | Operator-Investor Deck | IDR main + SGD reference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635508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B9CACF"/>
                </a:solidFill>
                <a:latin typeface="Aptos"/>
              </a:rPr>
              <a:t>Return estimates only, not guaranteed returns.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46920" y="-182880"/>
            <a:ext cx="2194560" cy="7223760"/>
          </a:xfrm>
          <a:prstGeom prst="rect">
            <a:avLst/>
          </a:prstGeom>
          <a:solidFill>
            <a:srgbClr val="08373D"/>
          </a:solidFill>
          <a:ln>
            <a:solidFill>
              <a:srgbClr val="08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411480"/>
            <a:ext cx="2103120" cy="2103120"/>
          </a:xfrm>
          <a:prstGeom prst="ellipse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1325880"/>
            <a:ext cx="2103120" cy="2103120"/>
          </a:xfrm>
          <a:prstGeom prst="ellipse">
            <a:avLst/>
          </a:prstGeom>
          <a:solidFill>
            <a:srgbClr val="F8D4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19" y="2240280"/>
            <a:ext cx="2103120" cy="210312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9CACF"/>
                </a:solidFill>
                <a:latin typeface="Aptos"/>
              </a:rPr>
              <a:t>REBORN WAVE GROUP | OPERATOR-INVESTOR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"/>
            <a:ext cx="8503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"/>
              </a:rPr>
              <a:t>Risk Controls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170432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ACF"/>
                </a:solidFill>
                <a:latin typeface="Aptos"/>
              </a:rPr>
              <a:t>Protect operators, Reborn Wave, and the brand experience.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417320"/>
            <a:ext cx="9966960" cy="658368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554480"/>
            <a:ext cx="96377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Aptos"/>
              </a:rPr>
              <a:t>Shared POS / reporting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1929384"/>
            <a:ext cx="9637776" cy="36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Monthly net profit can be verified from sales, costs, and cash records.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258568"/>
            <a:ext cx="9966960" cy="658368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2395728"/>
            <a:ext cx="96377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8D477"/>
                </a:solidFill>
                <a:latin typeface="Aptos"/>
              </a:rPr>
              <a:t>Minimum operating hours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770632"/>
            <a:ext cx="9637776" cy="36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Operators must keep the destination active and predictable for customers.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099816"/>
            <a:ext cx="9966960" cy="658368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3236976"/>
            <a:ext cx="96377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4D399"/>
                </a:solidFill>
                <a:latin typeface="Aptos"/>
              </a:rPr>
              <a:t>Brand + safety rules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3611880"/>
            <a:ext cx="9637776" cy="36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Design, hygiene, service, customer safety, and noise rules protect the building.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941064"/>
            <a:ext cx="9966960" cy="658368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4078224"/>
            <a:ext cx="96377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472B6"/>
                </a:solidFill>
                <a:latin typeface="Aptos"/>
              </a:rPr>
              <a:t>Monthly performance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4453128"/>
            <a:ext cx="9637776" cy="36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Slow operators receive action plans before replacement rights are triggered.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782312"/>
            <a:ext cx="9966960" cy="658368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4919472"/>
            <a:ext cx="96377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A78BFA"/>
                </a:solidFill>
                <a:latin typeface="Aptos"/>
              </a:rPr>
              <a:t>Replacement right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" y="5294376"/>
            <a:ext cx="9637776" cy="36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Inactive or non-performing operators can be replaced under contract terms.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46520"/>
            <a:ext cx="7132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B9CACF"/>
                </a:solidFill>
                <a:latin typeface="Aptos"/>
              </a:rPr>
              <a:t>Reborn Wave Group | Operator-Investor Deck | IDR main + SGD reference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635508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B9CACF"/>
                </a:solidFill>
                <a:latin typeface="Aptos"/>
              </a:rPr>
              <a:t>Return estimates only, not guaranteed returns.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46920" y="-182880"/>
            <a:ext cx="2194560" cy="7223760"/>
          </a:xfrm>
          <a:prstGeom prst="rect">
            <a:avLst/>
          </a:prstGeom>
          <a:solidFill>
            <a:srgbClr val="08373D"/>
          </a:solidFill>
          <a:ln>
            <a:solidFill>
              <a:srgbClr val="08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411480"/>
            <a:ext cx="2103120" cy="2103120"/>
          </a:xfrm>
          <a:prstGeom prst="ellipse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1325880"/>
            <a:ext cx="2103120" cy="2103120"/>
          </a:xfrm>
          <a:prstGeom prst="ellipse">
            <a:avLst/>
          </a:prstGeom>
          <a:solidFill>
            <a:srgbClr val="F8D4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19" y="2240280"/>
            <a:ext cx="2103120" cy="210312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9CACF"/>
                </a:solidFill>
                <a:latin typeface="Aptos"/>
              </a:rPr>
              <a:t>REBORN WAVE GROUP | OPERATOR-INVESTOR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"/>
            <a:ext cx="8503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"/>
              </a:rPr>
              <a:t>Next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170432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ACF"/>
                </a:solidFill>
                <a:latin typeface="Aptos"/>
              </a:rPr>
              <a:t>Move from operator interest to signed launch partners.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325880"/>
            <a:ext cx="9966960" cy="658368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463039"/>
            <a:ext cx="96377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Aptos"/>
              </a:rPr>
              <a:t>1. Confirm operators by business 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1837943"/>
            <a:ext cx="9637776" cy="36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Match each operator to the right floor zone and budget requirement.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167128"/>
            <a:ext cx="9966960" cy="658368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2304288"/>
            <a:ext cx="96377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8D477"/>
                </a:solidFill>
                <a:latin typeface="Aptos"/>
              </a:rPr>
              <a:t>2. Sign LOI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679192"/>
            <a:ext cx="9637776" cy="36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Lock intent, contribution scope, timeline, reporting rules, and 70/30 split principles.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008376"/>
            <a:ext cx="9966960" cy="658368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3145536"/>
            <a:ext cx="96377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4D399"/>
                </a:solidFill>
                <a:latin typeface="Aptos"/>
              </a:rPr>
              <a:t>3. Finalize renovation 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3520440"/>
            <a:ext cx="9637776" cy="36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Confirm design, cost, contractor timeline, equipment list, and opening budget.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849624"/>
            <a:ext cx="9966960" cy="658368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3986784"/>
            <a:ext cx="96377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472B6"/>
                </a:solidFill>
                <a:latin typeface="Aptos"/>
              </a:rPr>
              <a:t>4. Open pilot marketing campaign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4361688"/>
            <a:ext cx="9637776" cy="36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Use TikTok, Instagram, WhatsApp, creators, hotel partners, and event previews.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690872"/>
            <a:ext cx="9966960" cy="658368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4828032"/>
            <a:ext cx="96377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A78BFA"/>
                </a:solidFill>
                <a:latin typeface="Aptos"/>
              </a:rPr>
              <a:t>5. Launch by floor / zone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" y="5202936"/>
            <a:ext cx="9637776" cy="36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Open staged areas as operators finish buildout, training, and systems setup.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650992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B9CACF"/>
                </a:solidFill>
                <a:latin typeface="Aptos"/>
              </a:rPr>
              <a:t>Return projections are estimates, not guaranteed returns. Figures require review by qualified legal, tax, and accounting professionals before operator contracts are signed.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7132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B9CACF"/>
                </a:solidFill>
                <a:latin typeface="Aptos"/>
              </a:rPr>
              <a:t>Reborn Wave Group | Operator-Investor Deck | IDR main + SGD reference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35508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B9CACF"/>
                </a:solidFill>
                <a:latin typeface="Aptos"/>
              </a:rPr>
              <a:t>Return estimates only, not guaranteed returns.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