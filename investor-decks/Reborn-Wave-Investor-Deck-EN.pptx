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google.com/maps/search/?api=1&amp;query=Ruko%20Oceanic%20Bliss%2C%20Jl.%20Pasir%20Putih%20Harbourfront%20-%20Batam%20Centre.49%20blok%20A.%2051%2C%20Sadai%2C%20Bengkong%2C%20Batam%20City%2C%20Riau%20Islands%2029444"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wg-logo.png"/>
          <p:cNvPicPr>
            <a:picLocks noChangeAspect="1"/>
          </p:cNvPicPr>
          <p:nvPr/>
        </p:nvPicPr>
        <p:blipFill>
          <a:blip r:embed="rId2"/>
          <a:stretch>
            <a:fillRect/>
          </a:stretch>
        </p:blipFill>
        <p:spPr>
          <a:xfrm>
            <a:off x="594360" y="411480"/>
            <a:ext cx="1051560" cy="1051560"/>
          </a:xfrm>
          <a:prstGeom prst="rect">
            <a:avLst/>
          </a:prstGeom>
        </p:spPr>
      </p:pic>
      <p:sp>
        <p:nvSpPr>
          <p:cNvPr id="7" name="TextBox 6"/>
          <p:cNvSpPr txBox="1"/>
          <p:nvPr/>
        </p:nvSpPr>
        <p:spPr>
          <a:xfrm>
            <a:off x="640080" y="1600200"/>
            <a:ext cx="5486400" cy="1234440"/>
          </a:xfrm>
          <a:prstGeom prst="rect">
            <a:avLst/>
          </a:prstGeom>
          <a:noFill/>
        </p:spPr>
        <p:txBody>
          <a:bodyPr wrap="square">
            <a:spAutoFit/>
          </a:bodyPr>
          <a:lstStyle/>
          <a:p>
            <a:r>
              <a:rPr sz="4000" b="1">
                <a:solidFill>
                  <a:srgbClr val="FFFFFF"/>
                </a:solidFill>
                <a:latin typeface="Aptos"/>
              </a:rPr>
              <a:t>Reborn Wave Group Club Economy</a:t>
            </a:r>
          </a:p>
        </p:txBody>
      </p:sp>
      <p:sp>
        <p:nvSpPr>
          <p:cNvPr id="8" name="TextBox 7"/>
          <p:cNvSpPr txBox="1"/>
          <p:nvPr/>
        </p:nvSpPr>
        <p:spPr>
          <a:xfrm>
            <a:off x="685800" y="2852928"/>
            <a:ext cx="5303520" cy="731520"/>
          </a:xfrm>
          <a:prstGeom prst="rect">
            <a:avLst/>
          </a:prstGeom>
          <a:noFill/>
        </p:spPr>
        <p:txBody>
          <a:bodyPr wrap="square">
            <a:spAutoFit/>
          </a:bodyPr>
          <a:lstStyle/>
          <a:p>
            <a:r>
              <a:rPr sz="1500" b="0">
                <a:solidFill>
                  <a:srgbClr val="B9CACF"/>
                </a:solidFill>
                <a:latin typeface="Aptos"/>
              </a:rPr>
              <a:t>A 5-story waterfront lifestyle ecosystem in Batam built for customers, members, investors, partners, and workers.</a:t>
            </a:r>
          </a:p>
        </p:txBody>
      </p:sp>
      <p:sp>
        <p:nvSpPr>
          <p:cNvPr id="9" name="TextBox 8"/>
          <p:cNvSpPr txBox="1"/>
          <p:nvPr/>
        </p:nvSpPr>
        <p:spPr>
          <a:xfrm>
            <a:off x="694944" y="3822191"/>
            <a:ext cx="4389120" cy="292608"/>
          </a:xfrm>
          <a:prstGeom prst="rect">
            <a:avLst/>
          </a:prstGeom>
          <a:noFill/>
        </p:spPr>
        <p:txBody>
          <a:bodyPr wrap="square">
            <a:spAutoFit/>
          </a:bodyPr>
          <a:lstStyle/>
          <a:p>
            <a:r>
              <a:rPr sz="1300" b="1">
                <a:solidFill>
                  <a:srgbClr val="F8D477"/>
                </a:solidFill>
                <a:latin typeface="Aptos"/>
              </a:rPr>
              <a:t>$5,000 investor package | $200K capped allocation</a:t>
            </a:r>
          </a:p>
        </p:txBody>
      </p:sp>
      <p:sp>
        <p:nvSpPr>
          <p:cNvPr id="10" name="Rounded Rectangle 9"/>
          <p:cNvSpPr/>
          <p:nvPr/>
        </p:nvSpPr>
        <p:spPr>
          <a:xfrm>
            <a:off x="6446520" y="822960"/>
            <a:ext cx="4709160" cy="5120640"/>
          </a:xfrm>
          <a:prstGeom prst="roundRect">
            <a:avLst/>
          </a:prstGeom>
          <a:solidFill>
            <a:srgbClr val="0D3A41"/>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luruu-blindbox-box.jpeg"/>
          <p:cNvPicPr>
            <a:picLocks noChangeAspect="1"/>
          </p:cNvPicPr>
          <p:nvPr/>
        </p:nvPicPr>
        <p:blipFill>
          <a:blip r:embed="rId3"/>
          <a:stretch>
            <a:fillRect/>
          </a:stretch>
        </p:blipFill>
        <p:spPr>
          <a:xfrm>
            <a:off x="6748272" y="1115568"/>
            <a:ext cx="4069080" cy="2331720"/>
          </a:xfrm>
          <a:prstGeom prst="rect">
            <a:avLst/>
          </a:prstGeom>
        </p:spPr>
      </p:pic>
      <p:pic>
        <p:nvPicPr>
          <p:cNvPr id="12" name="Picture 11" descr="doluruu-female-transparent.png"/>
          <p:cNvPicPr>
            <a:picLocks noChangeAspect="1"/>
          </p:cNvPicPr>
          <p:nvPr/>
        </p:nvPicPr>
        <p:blipFill>
          <a:blip r:embed="rId4"/>
          <a:stretch>
            <a:fillRect/>
          </a:stretch>
        </p:blipFill>
        <p:spPr>
          <a:xfrm>
            <a:off x="7543800" y="3127248"/>
            <a:ext cx="1325880" cy="1325880"/>
          </a:xfrm>
          <a:prstGeom prst="rect">
            <a:avLst/>
          </a:prstGeom>
        </p:spPr>
      </p:pic>
      <p:pic>
        <p:nvPicPr>
          <p:cNvPr id="13" name="Picture 12" descr="Doluruu Boy_1749664545355.png"/>
          <p:cNvPicPr>
            <a:picLocks noChangeAspect="1"/>
          </p:cNvPicPr>
          <p:nvPr/>
        </p:nvPicPr>
        <p:blipFill>
          <a:blip r:embed="rId5"/>
          <a:stretch>
            <a:fillRect/>
          </a:stretch>
        </p:blipFill>
        <p:spPr>
          <a:xfrm>
            <a:off x="8796528" y="3063240"/>
            <a:ext cx="1207008" cy="1207008"/>
          </a:xfrm>
          <a:prstGeom prst="rect">
            <a:avLst/>
          </a:prstGeom>
        </p:spPr>
      </p:pic>
      <p:sp>
        <p:nvSpPr>
          <p:cNvPr id="14" name="TextBox 13"/>
          <p:cNvSpPr txBox="1"/>
          <p:nvPr/>
        </p:nvSpPr>
        <p:spPr>
          <a:xfrm>
            <a:off x="6812280" y="5029200"/>
            <a:ext cx="3977639" cy="320040"/>
          </a:xfrm>
          <a:prstGeom prst="rect">
            <a:avLst/>
          </a:prstGeom>
          <a:noFill/>
        </p:spPr>
        <p:txBody>
          <a:bodyPr wrap="square">
            <a:spAutoFit/>
          </a:bodyPr>
          <a:lstStyle/>
          <a:p>
            <a:pPr algn="ctr"/>
            <a:r>
              <a:rPr sz="1500" b="1">
                <a:solidFill>
                  <a:srgbClr val="F8D477"/>
                </a:solidFill>
                <a:latin typeface="Aptos"/>
              </a:rPr>
              <a:t>Every investor receives 1 free Doluruu blindbox</a:t>
            </a:r>
          </a:p>
        </p:txBody>
      </p:sp>
      <p:sp>
        <p:nvSpPr>
          <p:cNvPr id="15" name="TextBox 14"/>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16" name="TextBox 15"/>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The Opportunity</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One venue with multiple spending reasons across day, family, beauty, community, nightlife, and investor-hosted visits.</a:t>
            </a:r>
          </a:p>
        </p:txBody>
      </p:sp>
      <p:sp>
        <p:nvSpPr>
          <p:cNvPr id="9" name="Rounded Rectangle 8"/>
          <p:cNvSpPr/>
          <p:nvPr/>
        </p:nvSpPr>
        <p:spPr>
          <a:xfrm>
            <a:off x="621792" y="1828800"/>
            <a:ext cx="2514600" cy="233172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65960"/>
            <a:ext cx="2185416" cy="301752"/>
          </a:xfrm>
          <a:prstGeom prst="rect">
            <a:avLst/>
          </a:prstGeom>
          <a:noFill/>
        </p:spPr>
        <p:txBody>
          <a:bodyPr wrap="square">
            <a:spAutoFit/>
          </a:bodyPr>
          <a:lstStyle/>
          <a:p>
            <a:r>
              <a:rPr sz="1400" b="1">
                <a:solidFill>
                  <a:srgbClr val="22D3EE"/>
                </a:solidFill>
                <a:latin typeface="Aptos"/>
              </a:rPr>
              <a:t>Customer Traffic</a:t>
            </a:r>
          </a:p>
        </p:txBody>
      </p:sp>
      <p:sp>
        <p:nvSpPr>
          <p:cNvPr id="11" name="TextBox 10"/>
          <p:cNvSpPr txBox="1"/>
          <p:nvPr/>
        </p:nvSpPr>
        <p:spPr>
          <a:xfrm>
            <a:off x="786384" y="2340864"/>
            <a:ext cx="2185416" cy="1673351"/>
          </a:xfrm>
          <a:prstGeom prst="rect">
            <a:avLst/>
          </a:prstGeom>
          <a:noFill/>
        </p:spPr>
        <p:txBody>
          <a:bodyPr wrap="square">
            <a:spAutoFit/>
          </a:bodyPr>
          <a:lstStyle/>
          <a:p>
            <a:r>
              <a:rPr sz="900" b="0">
                <a:solidFill>
                  <a:srgbClr val="B9CACF"/>
                </a:solidFill>
                <a:latin typeface="Aptos"/>
              </a:rPr>
              <a:t>KTV, kids games, beauty, pet cafe, live music, dance floor, and sea view create multiple audiences.</a:t>
            </a:r>
          </a:p>
        </p:txBody>
      </p:sp>
      <p:sp>
        <p:nvSpPr>
          <p:cNvPr id="12" name="Rounded Rectangle 11"/>
          <p:cNvSpPr/>
          <p:nvPr/>
        </p:nvSpPr>
        <p:spPr>
          <a:xfrm>
            <a:off x="3410712" y="1828800"/>
            <a:ext cx="2514600" cy="233172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1965960"/>
            <a:ext cx="2185416" cy="301752"/>
          </a:xfrm>
          <a:prstGeom prst="rect">
            <a:avLst/>
          </a:prstGeom>
          <a:noFill/>
        </p:spPr>
        <p:txBody>
          <a:bodyPr wrap="square">
            <a:spAutoFit/>
          </a:bodyPr>
          <a:lstStyle/>
          <a:p>
            <a:r>
              <a:rPr sz="1400" b="1">
                <a:solidFill>
                  <a:srgbClr val="F8D477"/>
                </a:solidFill>
                <a:latin typeface="Aptos"/>
              </a:rPr>
              <a:t>Investor Flywheel</a:t>
            </a:r>
          </a:p>
        </p:txBody>
      </p:sp>
      <p:sp>
        <p:nvSpPr>
          <p:cNvPr id="14" name="TextBox 13"/>
          <p:cNvSpPr txBox="1"/>
          <p:nvPr/>
        </p:nvSpPr>
        <p:spPr>
          <a:xfrm>
            <a:off x="3575304" y="2340864"/>
            <a:ext cx="2185416" cy="1673351"/>
          </a:xfrm>
          <a:prstGeom prst="rect">
            <a:avLst/>
          </a:prstGeom>
          <a:noFill/>
        </p:spPr>
        <p:txBody>
          <a:bodyPr wrap="square">
            <a:spAutoFit/>
          </a:bodyPr>
          <a:lstStyle/>
          <a:p>
            <a:r>
              <a:rPr sz="900" b="0">
                <a:solidFill>
                  <a:srgbClr val="B9CACF"/>
                </a:solidFill>
                <a:latin typeface="Aptos"/>
              </a:rPr>
              <a:t>Credits help investors bring friends, customers, and partners into the club experience.</a:t>
            </a:r>
          </a:p>
        </p:txBody>
      </p:sp>
      <p:sp>
        <p:nvSpPr>
          <p:cNvPr id="15" name="Rounded Rectangle 14"/>
          <p:cNvSpPr/>
          <p:nvPr/>
        </p:nvSpPr>
        <p:spPr>
          <a:xfrm>
            <a:off x="6199631" y="1828800"/>
            <a:ext cx="2514600" cy="233172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3" y="1965960"/>
            <a:ext cx="2185416" cy="301752"/>
          </a:xfrm>
          <a:prstGeom prst="rect">
            <a:avLst/>
          </a:prstGeom>
          <a:noFill/>
        </p:spPr>
        <p:txBody>
          <a:bodyPr wrap="square">
            <a:spAutoFit/>
          </a:bodyPr>
          <a:lstStyle/>
          <a:p>
            <a:r>
              <a:rPr sz="1400" b="1">
                <a:solidFill>
                  <a:srgbClr val="34D399"/>
                </a:solidFill>
                <a:latin typeface="Aptos"/>
              </a:rPr>
              <a:t>Member Retention</a:t>
            </a:r>
          </a:p>
        </p:txBody>
      </p:sp>
      <p:sp>
        <p:nvSpPr>
          <p:cNvPr id="17" name="TextBox 16"/>
          <p:cNvSpPr txBox="1"/>
          <p:nvPr/>
        </p:nvSpPr>
        <p:spPr>
          <a:xfrm>
            <a:off x="6364223" y="2340864"/>
            <a:ext cx="2185416" cy="1673351"/>
          </a:xfrm>
          <a:prstGeom prst="rect">
            <a:avLst/>
          </a:prstGeom>
          <a:noFill/>
        </p:spPr>
        <p:txBody>
          <a:bodyPr wrap="square">
            <a:spAutoFit/>
          </a:bodyPr>
          <a:lstStyle/>
          <a:p>
            <a:r>
              <a:rPr sz="900" b="0">
                <a:solidFill>
                  <a:srgbClr val="B9CACF"/>
                </a:solidFill>
                <a:latin typeface="Aptos"/>
              </a:rPr>
              <a:t>Blindbox pet feeding, daily tokens, prizes, competitions, and events keep people returning.</a:t>
            </a:r>
          </a:p>
        </p:txBody>
      </p:sp>
      <p:sp>
        <p:nvSpPr>
          <p:cNvPr id="18" name="Rounded Rectangle 17"/>
          <p:cNvSpPr/>
          <p:nvPr/>
        </p:nvSpPr>
        <p:spPr>
          <a:xfrm>
            <a:off x="9144000" y="1645920"/>
            <a:ext cx="2148840" cy="2743200"/>
          </a:xfrm>
          <a:prstGeom prst="roundRect">
            <a:avLst/>
          </a:prstGeom>
          <a:solidFill>
            <a:srgbClr val="083D44"/>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45168" y="1993392"/>
            <a:ext cx="1737360" cy="502920"/>
          </a:xfrm>
          <a:prstGeom prst="rect">
            <a:avLst/>
          </a:prstGeom>
          <a:noFill/>
        </p:spPr>
        <p:txBody>
          <a:bodyPr wrap="square">
            <a:spAutoFit/>
          </a:bodyPr>
          <a:lstStyle/>
          <a:p>
            <a:pPr algn="ctr"/>
            <a:r>
              <a:rPr sz="2800" b="1">
                <a:solidFill>
                  <a:srgbClr val="F8D477"/>
                </a:solidFill>
                <a:latin typeface="Aptos"/>
              </a:rPr>
              <a:t>$200K</a:t>
            </a:r>
          </a:p>
        </p:txBody>
      </p:sp>
      <p:sp>
        <p:nvSpPr>
          <p:cNvPr id="20" name="TextBox 19"/>
          <p:cNvSpPr txBox="1"/>
          <p:nvPr/>
        </p:nvSpPr>
        <p:spPr>
          <a:xfrm>
            <a:off x="9281160" y="2670048"/>
            <a:ext cx="1828800" cy="731520"/>
          </a:xfrm>
          <a:prstGeom prst="rect">
            <a:avLst/>
          </a:prstGeom>
          <a:noFill/>
        </p:spPr>
        <p:txBody>
          <a:bodyPr wrap="square">
            <a:spAutoFit/>
          </a:bodyPr>
          <a:lstStyle/>
          <a:p>
            <a:pPr algn="ctr"/>
            <a:r>
              <a:rPr sz="1200" b="1">
                <a:solidFill>
                  <a:srgbClr val="FFFFFF"/>
                </a:solidFill>
                <a:latin typeface="Aptos"/>
              </a:rPr>
              <a:t>Total investor allocation cap</a:t>
            </a:r>
          </a:p>
        </p:txBody>
      </p:sp>
      <p:sp>
        <p:nvSpPr>
          <p:cNvPr id="21" name="TextBox 20"/>
          <p:cNvSpPr txBox="1"/>
          <p:nvPr/>
        </p:nvSpPr>
        <p:spPr>
          <a:xfrm>
            <a:off x="9281160" y="3456432"/>
            <a:ext cx="1828800" cy="502920"/>
          </a:xfrm>
          <a:prstGeom prst="rect">
            <a:avLst/>
          </a:prstGeom>
          <a:noFill/>
        </p:spPr>
        <p:txBody>
          <a:bodyPr wrap="square">
            <a:spAutoFit/>
          </a:bodyPr>
          <a:lstStyle/>
          <a:p>
            <a:pPr algn="ctr"/>
            <a:r>
              <a:rPr sz="800" b="0">
                <a:solidFill>
                  <a:srgbClr val="B9CACF"/>
                </a:solidFill>
                <a:latin typeface="Aptos"/>
              </a:rPr>
              <a:t>Scarcity supports urgency and clean package communication.</a:t>
            </a:r>
          </a:p>
        </p:txBody>
      </p:sp>
      <p:sp>
        <p:nvSpPr>
          <p:cNvPr id="22" name="TextBox 21"/>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23" name="TextBox 22"/>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Five Floors, One Customer Loop</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Each floor gives people another reason to visit, stay longer, post content, and return.</a:t>
            </a:r>
          </a:p>
        </p:txBody>
      </p:sp>
      <p:sp>
        <p:nvSpPr>
          <p:cNvPr id="9" name="Rounded Rectangle 8"/>
          <p:cNvSpPr/>
          <p:nvPr/>
        </p:nvSpPr>
        <p:spPr>
          <a:xfrm>
            <a:off x="685800" y="1600200"/>
            <a:ext cx="10607040" cy="576072"/>
          </a:xfrm>
          <a:prstGeom prst="roundRect">
            <a:avLst/>
          </a:prstGeom>
          <a:solidFill>
            <a:srgbClr val="07272D"/>
          </a:solidFill>
          <a:ln>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19072"/>
            <a:ext cx="777240" cy="210312"/>
          </a:xfrm>
          <a:prstGeom prst="rect">
            <a:avLst/>
          </a:prstGeom>
          <a:noFill/>
        </p:spPr>
        <p:txBody>
          <a:bodyPr wrap="square">
            <a:spAutoFit/>
          </a:bodyPr>
          <a:lstStyle/>
          <a:p>
            <a:r>
              <a:rPr sz="1500" b="1">
                <a:solidFill>
                  <a:srgbClr val="22D3EE"/>
                </a:solidFill>
                <a:latin typeface="Aptos"/>
              </a:rPr>
              <a:t>1F</a:t>
            </a:r>
          </a:p>
        </p:txBody>
      </p:sp>
      <p:sp>
        <p:nvSpPr>
          <p:cNvPr id="11" name="TextBox 10"/>
          <p:cNvSpPr txBox="1"/>
          <p:nvPr/>
        </p:nvSpPr>
        <p:spPr>
          <a:xfrm>
            <a:off x="1627632" y="1691640"/>
            <a:ext cx="3108960" cy="274320"/>
          </a:xfrm>
          <a:prstGeom prst="rect">
            <a:avLst/>
          </a:prstGeom>
          <a:noFill/>
        </p:spPr>
        <p:txBody>
          <a:bodyPr wrap="square">
            <a:spAutoFit/>
          </a:bodyPr>
          <a:lstStyle/>
          <a:p>
            <a:r>
              <a:rPr sz="1300" b="1">
                <a:solidFill>
                  <a:srgbClr val="FFFFFF"/>
                </a:solidFill>
                <a:latin typeface="Aptos"/>
              </a:rPr>
              <a:t>KTV Lounge + Kids Game House</a:t>
            </a:r>
          </a:p>
        </p:txBody>
      </p:sp>
      <p:sp>
        <p:nvSpPr>
          <p:cNvPr id="12" name="TextBox 11"/>
          <p:cNvSpPr txBox="1"/>
          <p:nvPr/>
        </p:nvSpPr>
        <p:spPr>
          <a:xfrm>
            <a:off x="4800600" y="1709928"/>
            <a:ext cx="6126480" cy="228600"/>
          </a:xfrm>
          <a:prstGeom prst="rect">
            <a:avLst/>
          </a:prstGeom>
          <a:noFill/>
        </p:spPr>
        <p:txBody>
          <a:bodyPr wrap="square">
            <a:spAutoFit/>
          </a:bodyPr>
          <a:lstStyle/>
          <a:p>
            <a:r>
              <a:rPr sz="900" b="0">
                <a:solidFill>
                  <a:srgbClr val="B9CACF"/>
                </a:solidFill>
                <a:latin typeface="Aptos"/>
              </a:rPr>
              <a:t>2 units KTV lounge, 1 unit kids game house for singing competitions and family traffic.</a:t>
            </a:r>
          </a:p>
        </p:txBody>
      </p:sp>
      <p:sp>
        <p:nvSpPr>
          <p:cNvPr id="13" name="Rounded Rectangle 12"/>
          <p:cNvSpPr/>
          <p:nvPr/>
        </p:nvSpPr>
        <p:spPr>
          <a:xfrm>
            <a:off x="685800" y="2386584"/>
            <a:ext cx="10607040" cy="576072"/>
          </a:xfrm>
          <a:prstGeom prst="roundRect">
            <a:avLst/>
          </a:prstGeom>
          <a:solidFill>
            <a:srgbClr val="07272D"/>
          </a:solidFill>
          <a:ln>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505456"/>
            <a:ext cx="777240" cy="210312"/>
          </a:xfrm>
          <a:prstGeom prst="rect">
            <a:avLst/>
          </a:prstGeom>
          <a:noFill/>
        </p:spPr>
        <p:txBody>
          <a:bodyPr wrap="square">
            <a:spAutoFit/>
          </a:bodyPr>
          <a:lstStyle/>
          <a:p>
            <a:r>
              <a:rPr sz="1500" b="1">
                <a:solidFill>
                  <a:srgbClr val="F472B6"/>
                </a:solidFill>
                <a:latin typeface="Aptos"/>
              </a:rPr>
              <a:t>2F</a:t>
            </a:r>
          </a:p>
        </p:txBody>
      </p:sp>
      <p:sp>
        <p:nvSpPr>
          <p:cNvPr id="15" name="TextBox 14"/>
          <p:cNvSpPr txBox="1"/>
          <p:nvPr/>
        </p:nvSpPr>
        <p:spPr>
          <a:xfrm>
            <a:off x="1627632" y="2478024"/>
            <a:ext cx="3108960" cy="274320"/>
          </a:xfrm>
          <a:prstGeom prst="rect">
            <a:avLst/>
          </a:prstGeom>
          <a:noFill/>
        </p:spPr>
        <p:txBody>
          <a:bodyPr wrap="square">
            <a:spAutoFit/>
          </a:bodyPr>
          <a:lstStyle/>
          <a:p>
            <a:r>
              <a:rPr sz="1300" b="1">
                <a:solidFill>
                  <a:srgbClr val="FFFFFF"/>
                </a:solidFill>
                <a:latin typeface="Aptos"/>
              </a:rPr>
              <a:t>Private KTV + Beauty Salon</a:t>
            </a:r>
          </a:p>
        </p:txBody>
      </p:sp>
      <p:sp>
        <p:nvSpPr>
          <p:cNvPr id="16" name="TextBox 15"/>
          <p:cNvSpPr txBox="1"/>
          <p:nvPr/>
        </p:nvSpPr>
        <p:spPr>
          <a:xfrm>
            <a:off x="4800600" y="2496312"/>
            <a:ext cx="6126480" cy="228600"/>
          </a:xfrm>
          <a:prstGeom prst="rect">
            <a:avLst/>
          </a:prstGeom>
          <a:noFill/>
        </p:spPr>
        <p:txBody>
          <a:bodyPr wrap="square">
            <a:spAutoFit/>
          </a:bodyPr>
          <a:lstStyle/>
          <a:p>
            <a:r>
              <a:rPr sz="900" b="0">
                <a:solidFill>
                  <a:srgbClr val="B9CACF"/>
                </a:solidFill>
                <a:latin typeface="Aptos"/>
              </a:rPr>
              <a:t>4 private KTV rooms plus beauty services for repeat bookings.</a:t>
            </a:r>
          </a:p>
        </p:txBody>
      </p:sp>
      <p:sp>
        <p:nvSpPr>
          <p:cNvPr id="17" name="Rounded Rectangle 16"/>
          <p:cNvSpPr/>
          <p:nvPr/>
        </p:nvSpPr>
        <p:spPr>
          <a:xfrm>
            <a:off x="685800" y="3172968"/>
            <a:ext cx="10607040" cy="576072"/>
          </a:xfrm>
          <a:prstGeom prst="roundRect">
            <a:avLst/>
          </a:prstGeom>
          <a:solidFill>
            <a:srgbClr val="07272D"/>
          </a:solidFill>
          <a:ln>
            <a:solidFill>
              <a:srgbClr val="F8D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291839"/>
            <a:ext cx="777240" cy="210312"/>
          </a:xfrm>
          <a:prstGeom prst="rect">
            <a:avLst/>
          </a:prstGeom>
          <a:noFill/>
        </p:spPr>
        <p:txBody>
          <a:bodyPr wrap="square">
            <a:spAutoFit/>
          </a:bodyPr>
          <a:lstStyle/>
          <a:p>
            <a:r>
              <a:rPr sz="1500" b="1">
                <a:solidFill>
                  <a:srgbClr val="F8D477"/>
                </a:solidFill>
                <a:latin typeface="Aptos"/>
              </a:rPr>
              <a:t>3F</a:t>
            </a:r>
          </a:p>
        </p:txBody>
      </p:sp>
      <p:sp>
        <p:nvSpPr>
          <p:cNvPr id="19" name="TextBox 18"/>
          <p:cNvSpPr txBox="1"/>
          <p:nvPr/>
        </p:nvSpPr>
        <p:spPr>
          <a:xfrm>
            <a:off x="1627632" y="3264408"/>
            <a:ext cx="3108960" cy="274320"/>
          </a:xfrm>
          <a:prstGeom prst="rect">
            <a:avLst/>
          </a:prstGeom>
          <a:noFill/>
        </p:spPr>
        <p:txBody>
          <a:bodyPr wrap="square">
            <a:spAutoFit/>
          </a:bodyPr>
          <a:lstStyle/>
          <a:p>
            <a:r>
              <a:rPr sz="1300" b="1">
                <a:solidFill>
                  <a:srgbClr val="FFFFFF"/>
                </a:solidFill>
                <a:latin typeface="Aptos"/>
              </a:rPr>
              <a:t>VIP KTV + Beauty Salon</a:t>
            </a:r>
          </a:p>
        </p:txBody>
      </p:sp>
      <p:sp>
        <p:nvSpPr>
          <p:cNvPr id="20" name="TextBox 19"/>
          <p:cNvSpPr txBox="1"/>
          <p:nvPr/>
        </p:nvSpPr>
        <p:spPr>
          <a:xfrm>
            <a:off x="4800600" y="3282696"/>
            <a:ext cx="6126480" cy="228600"/>
          </a:xfrm>
          <a:prstGeom prst="rect">
            <a:avLst/>
          </a:prstGeom>
          <a:noFill/>
        </p:spPr>
        <p:txBody>
          <a:bodyPr wrap="square">
            <a:spAutoFit/>
          </a:bodyPr>
          <a:lstStyle/>
          <a:p>
            <a:r>
              <a:rPr sz="900" b="0">
                <a:solidFill>
                  <a:srgbClr val="B9CACF"/>
                </a:solidFill>
                <a:latin typeface="Aptos"/>
              </a:rPr>
              <a:t>2 VIP rooms for investor guests, birthdays, business hosting, and premium spend.</a:t>
            </a:r>
          </a:p>
        </p:txBody>
      </p:sp>
      <p:sp>
        <p:nvSpPr>
          <p:cNvPr id="21" name="Rounded Rectangle 20"/>
          <p:cNvSpPr/>
          <p:nvPr/>
        </p:nvSpPr>
        <p:spPr>
          <a:xfrm>
            <a:off x="685800" y="3959352"/>
            <a:ext cx="10607040" cy="576072"/>
          </a:xfrm>
          <a:prstGeom prst="roundRect">
            <a:avLst/>
          </a:prstGeom>
          <a:solidFill>
            <a:srgbClr val="0727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078224"/>
            <a:ext cx="777240" cy="210312"/>
          </a:xfrm>
          <a:prstGeom prst="rect">
            <a:avLst/>
          </a:prstGeom>
          <a:noFill/>
        </p:spPr>
        <p:txBody>
          <a:bodyPr wrap="square">
            <a:spAutoFit/>
          </a:bodyPr>
          <a:lstStyle/>
          <a:p>
            <a:r>
              <a:rPr sz="1500" b="1">
                <a:solidFill>
                  <a:srgbClr val="34D399"/>
                </a:solidFill>
                <a:latin typeface="Aptos"/>
              </a:rPr>
              <a:t>4F</a:t>
            </a:r>
          </a:p>
        </p:txBody>
      </p:sp>
      <p:sp>
        <p:nvSpPr>
          <p:cNvPr id="23" name="TextBox 22"/>
          <p:cNvSpPr txBox="1"/>
          <p:nvPr/>
        </p:nvSpPr>
        <p:spPr>
          <a:xfrm>
            <a:off x="1627632" y="4050791"/>
            <a:ext cx="3108960" cy="274320"/>
          </a:xfrm>
          <a:prstGeom prst="rect">
            <a:avLst/>
          </a:prstGeom>
          <a:noFill/>
        </p:spPr>
        <p:txBody>
          <a:bodyPr wrap="square">
            <a:spAutoFit/>
          </a:bodyPr>
          <a:lstStyle/>
          <a:p>
            <a:r>
              <a:rPr sz="1300" b="1">
                <a:solidFill>
                  <a:srgbClr val="FFFFFF"/>
                </a:solidFill>
                <a:latin typeface="Aptos"/>
              </a:rPr>
              <a:t>Pet Cafe</a:t>
            </a:r>
          </a:p>
        </p:txBody>
      </p:sp>
      <p:sp>
        <p:nvSpPr>
          <p:cNvPr id="24" name="TextBox 23"/>
          <p:cNvSpPr txBox="1"/>
          <p:nvPr/>
        </p:nvSpPr>
        <p:spPr>
          <a:xfrm>
            <a:off x="4800600" y="4069080"/>
            <a:ext cx="6126480" cy="228600"/>
          </a:xfrm>
          <a:prstGeom prst="rect">
            <a:avLst/>
          </a:prstGeom>
          <a:noFill/>
        </p:spPr>
        <p:txBody>
          <a:bodyPr wrap="square">
            <a:spAutoFit/>
          </a:bodyPr>
          <a:lstStyle/>
          <a:p>
            <a:r>
              <a:rPr sz="900" b="0">
                <a:solidFill>
                  <a:srgbClr val="B9CACF"/>
                </a:solidFill>
                <a:latin typeface="Aptos"/>
              </a:rPr>
              <a:t>All 3 units become a pet cafe tied to Doluruu, content, food, drinks, and community.</a:t>
            </a:r>
          </a:p>
        </p:txBody>
      </p:sp>
      <p:sp>
        <p:nvSpPr>
          <p:cNvPr id="25" name="Rounded Rectangle 24"/>
          <p:cNvSpPr/>
          <p:nvPr/>
        </p:nvSpPr>
        <p:spPr>
          <a:xfrm>
            <a:off x="685800" y="4745736"/>
            <a:ext cx="10607040" cy="576072"/>
          </a:xfrm>
          <a:prstGeom prst="roundRect">
            <a:avLst/>
          </a:prstGeom>
          <a:solidFill>
            <a:srgbClr val="07272D"/>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864607"/>
            <a:ext cx="777240" cy="210312"/>
          </a:xfrm>
          <a:prstGeom prst="rect">
            <a:avLst/>
          </a:prstGeom>
          <a:noFill/>
        </p:spPr>
        <p:txBody>
          <a:bodyPr wrap="square">
            <a:spAutoFit/>
          </a:bodyPr>
          <a:lstStyle/>
          <a:p>
            <a:r>
              <a:rPr sz="1500" b="1">
                <a:solidFill>
                  <a:srgbClr val="A78BFA"/>
                </a:solidFill>
                <a:latin typeface="Aptos"/>
              </a:rPr>
              <a:t>5F</a:t>
            </a:r>
          </a:p>
        </p:txBody>
      </p:sp>
      <p:sp>
        <p:nvSpPr>
          <p:cNvPr id="27" name="TextBox 26"/>
          <p:cNvSpPr txBox="1"/>
          <p:nvPr/>
        </p:nvSpPr>
        <p:spPr>
          <a:xfrm>
            <a:off x="1627632" y="4837175"/>
            <a:ext cx="3108960" cy="274320"/>
          </a:xfrm>
          <a:prstGeom prst="rect">
            <a:avLst/>
          </a:prstGeom>
          <a:noFill/>
        </p:spPr>
        <p:txBody>
          <a:bodyPr wrap="square">
            <a:spAutoFit/>
          </a:bodyPr>
          <a:lstStyle/>
          <a:p>
            <a:r>
              <a:rPr sz="1300" b="1">
                <a:solidFill>
                  <a:srgbClr val="FFFFFF"/>
                </a:solidFill>
                <a:latin typeface="Aptos"/>
              </a:rPr>
              <a:t>Sea-View Live House</a:t>
            </a:r>
          </a:p>
        </p:txBody>
      </p:sp>
      <p:sp>
        <p:nvSpPr>
          <p:cNvPr id="28" name="TextBox 27"/>
          <p:cNvSpPr txBox="1"/>
          <p:nvPr/>
        </p:nvSpPr>
        <p:spPr>
          <a:xfrm>
            <a:off x="4800600" y="4855464"/>
            <a:ext cx="6126480" cy="228600"/>
          </a:xfrm>
          <a:prstGeom prst="rect">
            <a:avLst/>
          </a:prstGeom>
          <a:noFill/>
        </p:spPr>
        <p:txBody>
          <a:bodyPr wrap="square">
            <a:spAutoFit/>
          </a:bodyPr>
          <a:lstStyle/>
          <a:p>
            <a:r>
              <a:rPr sz="900" b="0">
                <a:solidFill>
                  <a:srgbClr val="B9CACF"/>
                </a:solidFill>
                <a:latin typeface="Aptos"/>
              </a:rPr>
              <a:t>Live band, dance floor, rooftop sea view, event nights, and premium table sales.</a:t>
            </a:r>
          </a:p>
        </p:txBody>
      </p:sp>
      <p:sp>
        <p:nvSpPr>
          <p:cNvPr id="29" name="TextBox 28"/>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30" name="TextBox 29"/>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Investor Package</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$5,000 enters the ecosystem as investor capital and customer-hosting credits.</a:t>
            </a:r>
          </a:p>
        </p:txBody>
      </p:sp>
      <p:sp>
        <p:nvSpPr>
          <p:cNvPr id="9" name="Rounded Rectangle 8"/>
          <p:cNvSpPr/>
          <p:nvPr/>
        </p:nvSpPr>
        <p:spPr>
          <a:xfrm>
            <a:off x="594360" y="1645920"/>
            <a:ext cx="5074920" cy="123444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783080"/>
            <a:ext cx="4745736" cy="301752"/>
          </a:xfrm>
          <a:prstGeom prst="rect">
            <a:avLst/>
          </a:prstGeom>
          <a:noFill/>
        </p:spPr>
        <p:txBody>
          <a:bodyPr wrap="square">
            <a:spAutoFit/>
          </a:bodyPr>
          <a:lstStyle/>
          <a:p>
            <a:r>
              <a:rPr sz="1400" b="1">
                <a:solidFill>
                  <a:srgbClr val="F8D477"/>
                </a:solidFill>
                <a:latin typeface="Aptos"/>
              </a:rPr>
              <a:t>Invest $5,000</a:t>
            </a:r>
          </a:p>
        </p:txBody>
      </p:sp>
      <p:sp>
        <p:nvSpPr>
          <p:cNvPr id="11" name="TextBox 10"/>
          <p:cNvSpPr txBox="1"/>
          <p:nvPr/>
        </p:nvSpPr>
        <p:spPr>
          <a:xfrm>
            <a:off x="758952" y="2157984"/>
            <a:ext cx="4745736" cy="576072"/>
          </a:xfrm>
          <a:prstGeom prst="rect">
            <a:avLst/>
          </a:prstGeom>
          <a:noFill/>
        </p:spPr>
        <p:txBody>
          <a:bodyPr wrap="square">
            <a:spAutoFit/>
          </a:bodyPr>
          <a:lstStyle/>
          <a:p>
            <a:r>
              <a:rPr sz="900" b="0">
                <a:solidFill>
                  <a:srgbClr val="B9CACF"/>
                </a:solidFill>
                <a:latin typeface="Aptos"/>
              </a:rPr>
              <a:t>Investor receives $5,000 club spending credits for friends, customers, and private hosting.</a:t>
            </a:r>
          </a:p>
        </p:txBody>
      </p:sp>
      <p:sp>
        <p:nvSpPr>
          <p:cNvPr id="12" name="Rounded Rectangle 11"/>
          <p:cNvSpPr/>
          <p:nvPr/>
        </p:nvSpPr>
        <p:spPr>
          <a:xfrm>
            <a:off x="6035040" y="1645920"/>
            <a:ext cx="5074920" cy="123444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783080"/>
            <a:ext cx="4745736" cy="301752"/>
          </a:xfrm>
          <a:prstGeom prst="rect">
            <a:avLst/>
          </a:prstGeom>
          <a:noFill/>
        </p:spPr>
        <p:txBody>
          <a:bodyPr wrap="square">
            <a:spAutoFit/>
          </a:bodyPr>
          <a:lstStyle/>
          <a:p>
            <a:r>
              <a:rPr sz="1400" b="1">
                <a:solidFill>
                  <a:srgbClr val="22D3EE"/>
                </a:solidFill>
                <a:latin typeface="Aptos"/>
              </a:rPr>
              <a:t>Target $10,000 ROI</a:t>
            </a:r>
          </a:p>
        </p:txBody>
      </p:sp>
      <p:sp>
        <p:nvSpPr>
          <p:cNvPr id="14" name="TextBox 13"/>
          <p:cNvSpPr txBox="1"/>
          <p:nvPr/>
        </p:nvSpPr>
        <p:spPr>
          <a:xfrm>
            <a:off x="6199632" y="2157984"/>
            <a:ext cx="4745736" cy="576072"/>
          </a:xfrm>
          <a:prstGeom prst="rect">
            <a:avLst/>
          </a:prstGeom>
          <a:noFill/>
        </p:spPr>
        <p:txBody>
          <a:bodyPr wrap="square">
            <a:spAutoFit/>
          </a:bodyPr>
          <a:lstStyle/>
          <a:p>
            <a:r>
              <a:rPr sz="900" b="0">
                <a:solidFill>
                  <a:srgbClr val="B9CACF"/>
                </a:solidFill>
                <a:latin typeface="Aptos"/>
              </a:rPr>
              <a:t>Target return across 2 years under contract terms and monthly payout rules.</a:t>
            </a:r>
          </a:p>
        </p:txBody>
      </p:sp>
      <p:sp>
        <p:nvSpPr>
          <p:cNvPr id="15" name="Rounded Rectangle 14"/>
          <p:cNvSpPr/>
          <p:nvPr/>
        </p:nvSpPr>
        <p:spPr>
          <a:xfrm>
            <a:off x="594360" y="3246120"/>
            <a:ext cx="5074920" cy="123444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3383279"/>
            <a:ext cx="4745736" cy="301752"/>
          </a:xfrm>
          <a:prstGeom prst="rect">
            <a:avLst/>
          </a:prstGeom>
          <a:noFill/>
        </p:spPr>
        <p:txBody>
          <a:bodyPr wrap="square">
            <a:spAutoFit/>
          </a:bodyPr>
          <a:lstStyle/>
          <a:p>
            <a:r>
              <a:rPr sz="1400" b="1">
                <a:solidFill>
                  <a:srgbClr val="34D399"/>
                </a:solidFill>
                <a:latin typeface="Aptos"/>
              </a:rPr>
              <a:t>20% Profit Pool</a:t>
            </a:r>
          </a:p>
        </p:txBody>
      </p:sp>
      <p:sp>
        <p:nvSpPr>
          <p:cNvPr id="17" name="TextBox 16"/>
          <p:cNvSpPr txBox="1"/>
          <p:nvPr/>
        </p:nvSpPr>
        <p:spPr>
          <a:xfrm>
            <a:off x="758952" y="3758183"/>
            <a:ext cx="4745736" cy="576072"/>
          </a:xfrm>
          <a:prstGeom prst="rect">
            <a:avLst/>
          </a:prstGeom>
          <a:noFill/>
        </p:spPr>
        <p:txBody>
          <a:bodyPr wrap="square">
            <a:spAutoFit/>
          </a:bodyPr>
          <a:lstStyle/>
          <a:p>
            <a:r>
              <a:rPr sz="900" b="0">
                <a:solidFill>
                  <a:srgbClr val="B9CACF"/>
                </a:solidFill>
                <a:latin typeface="Aptos"/>
              </a:rPr>
              <a:t>20% of business profit is allocated monthly and divided among active investors.</a:t>
            </a:r>
          </a:p>
        </p:txBody>
      </p:sp>
      <p:sp>
        <p:nvSpPr>
          <p:cNvPr id="18" name="Rounded Rectangle 17"/>
          <p:cNvSpPr/>
          <p:nvPr/>
        </p:nvSpPr>
        <p:spPr>
          <a:xfrm>
            <a:off x="6035040" y="3246120"/>
            <a:ext cx="5074920" cy="123444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9632" y="3383279"/>
            <a:ext cx="4745736" cy="301752"/>
          </a:xfrm>
          <a:prstGeom prst="rect">
            <a:avLst/>
          </a:prstGeom>
          <a:noFill/>
        </p:spPr>
        <p:txBody>
          <a:bodyPr wrap="square">
            <a:spAutoFit/>
          </a:bodyPr>
          <a:lstStyle/>
          <a:p>
            <a:r>
              <a:rPr sz="1400" b="1">
                <a:solidFill>
                  <a:srgbClr val="F472B6"/>
                </a:solidFill>
                <a:latin typeface="Aptos"/>
              </a:rPr>
              <a:t>10% New Investor Pool</a:t>
            </a:r>
          </a:p>
        </p:txBody>
      </p:sp>
      <p:sp>
        <p:nvSpPr>
          <p:cNvPr id="20" name="TextBox 19"/>
          <p:cNvSpPr txBox="1"/>
          <p:nvPr/>
        </p:nvSpPr>
        <p:spPr>
          <a:xfrm>
            <a:off x="6199632" y="3758183"/>
            <a:ext cx="4745736" cy="576072"/>
          </a:xfrm>
          <a:prstGeom prst="rect">
            <a:avLst/>
          </a:prstGeom>
          <a:noFill/>
        </p:spPr>
        <p:txBody>
          <a:bodyPr wrap="square">
            <a:spAutoFit/>
          </a:bodyPr>
          <a:lstStyle/>
          <a:p>
            <a:r>
              <a:rPr sz="900" b="0">
                <a:solidFill>
                  <a:srgbClr val="B9CACF"/>
                </a:solidFill>
                <a:latin typeface="Aptos"/>
              </a:rPr>
              <a:t>10% of every new $5,000 package is shared with earlier active investors.</a:t>
            </a:r>
          </a:p>
        </p:txBody>
      </p:sp>
      <p:sp>
        <p:nvSpPr>
          <p:cNvPr id="21" name="TextBox 20"/>
          <p:cNvSpPr txBox="1"/>
          <p:nvPr/>
        </p:nvSpPr>
        <p:spPr>
          <a:xfrm>
            <a:off x="731520" y="5212080"/>
            <a:ext cx="10241280" cy="548640"/>
          </a:xfrm>
          <a:prstGeom prst="rect">
            <a:avLst/>
          </a:prstGeom>
          <a:noFill/>
        </p:spPr>
        <p:txBody>
          <a:bodyPr wrap="square">
            <a:spAutoFit/>
          </a:bodyPr>
          <a:lstStyle/>
          <a:p>
            <a:r>
              <a:rPr sz="1000" b="0">
                <a:solidFill>
                  <a:srgbClr val="B9CACF"/>
                </a:solidFill>
                <a:latin typeface="Aptos"/>
              </a:rPr>
              <a:t>Investor terms require qualified legal and financial review before public launch or contract signing.</a:t>
            </a:r>
          </a:p>
        </p:txBody>
      </p:sp>
      <p:sp>
        <p:nvSpPr>
          <p:cNvPr id="22" name="TextBox 21"/>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23" name="TextBox 22"/>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Referral Logic</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Referral bonuses reward growth and reduce the remaining ROI target.</a:t>
            </a:r>
          </a:p>
        </p:txBody>
      </p:sp>
      <p:sp>
        <p:nvSpPr>
          <p:cNvPr id="9" name="Rounded Rectangle 8"/>
          <p:cNvSpPr/>
          <p:nvPr/>
        </p:nvSpPr>
        <p:spPr>
          <a:xfrm>
            <a:off x="685800" y="1920240"/>
            <a:ext cx="1828800" cy="2148840"/>
          </a:xfrm>
          <a:prstGeom prst="roundRect">
            <a:avLst/>
          </a:prstGeom>
          <a:solidFill>
            <a:srgbClr val="07272D"/>
          </a:solidFill>
          <a:ln>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67712"/>
            <a:ext cx="1463040" cy="384048"/>
          </a:xfrm>
          <a:prstGeom prst="rect">
            <a:avLst/>
          </a:prstGeom>
          <a:noFill/>
        </p:spPr>
        <p:txBody>
          <a:bodyPr wrap="square">
            <a:spAutoFit/>
          </a:bodyPr>
          <a:lstStyle/>
          <a:p>
            <a:pPr algn="ctr"/>
            <a:r>
              <a:rPr sz="2400" b="1">
                <a:solidFill>
                  <a:srgbClr val="22D3EE"/>
                </a:solidFill>
                <a:latin typeface="Aptos"/>
              </a:rPr>
              <a:t>1</a:t>
            </a:r>
          </a:p>
        </p:txBody>
      </p:sp>
      <p:sp>
        <p:nvSpPr>
          <p:cNvPr id="11" name="TextBox 10"/>
          <p:cNvSpPr txBox="1"/>
          <p:nvPr/>
        </p:nvSpPr>
        <p:spPr>
          <a:xfrm>
            <a:off x="850392" y="2971800"/>
            <a:ext cx="1499616" cy="640080"/>
          </a:xfrm>
          <a:prstGeom prst="rect">
            <a:avLst/>
          </a:prstGeom>
          <a:noFill/>
        </p:spPr>
        <p:txBody>
          <a:bodyPr wrap="square">
            <a:spAutoFit/>
          </a:bodyPr>
          <a:lstStyle/>
          <a:p>
            <a:pPr algn="ctr"/>
            <a:r>
              <a:rPr sz="900" b="0">
                <a:solidFill>
                  <a:srgbClr val="B9CACF"/>
                </a:solidFill>
                <a:latin typeface="Aptos"/>
              </a:rPr>
              <a:t>$1,000 referral bonus paid; ROI target reduced by $1,000.</a:t>
            </a:r>
          </a:p>
        </p:txBody>
      </p:sp>
      <p:sp>
        <p:nvSpPr>
          <p:cNvPr id="12" name="Rounded Rectangle 11"/>
          <p:cNvSpPr/>
          <p:nvPr/>
        </p:nvSpPr>
        <p:spPr>
          <a:xfrm>
            <a:off x="2834640" y="1920240"/>
            <a:ext cx="1828800" cy="2148840"/>
          </a:xfrm>
          <a:prstGeom prst="roundRect">
            <a:avLst/>
          </a:prstGeom>
          <a:solidFill>
            <a:srgbClr val="07272D"/>
          </a:solidFill>
          <a:ln>
            <a:solidFill>
              <a:srgbClr val="F8D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17520" y="2267712"/>
            <a:ext cx="1463040" cy="384048"/>
          </a:xfrm>
          <a:prstGeom prst="rect">
            <a:avLst/>
          </a:prstGeom>
          <a:noFill/>
        </p:spPr>
        <p:txBody>
          <a:bodyPr wrap="square">
            <a:spAutoFit/>
          </a:bodyPr>
          <a:lstStyle/>
          <a:p>
            <a:pPr algn="ctr"/>
            <a:r>
              <a:rPr sz="2400" b="1">
                <a:solidFill>
                  <a:srgbClr val="F8D477"/>
                </a:solidFill>
                <a:latin typeface="Aptos"/>
              </a:rPr>
              <a:t>3</a:t>
            </a:r>
          </a:p>
        </p:txBody>
      </p:sp>
      <p:sp>
        <p:nvSpPr>
          <p:cNvPr id="14" name="TextBox 13"/>
          <p:cNvSpPr txBox="1"/>
          <p:nvPr/>
        </p:nvSpPr>
        <p:spPr>
          <a:xfrm>
            <a:off x="2999232" y="2971800"/>
            <a:ext cx="1499616" cy="640080"/>
          </a:xfrm>
          <a:prstGeom prst="rect">
            <a:avLst/>
          </a:prstGeom>
          <a:noFill/>
        </p:spPr>
        <p:txBody>
          <a:bodyPr wrap="square">
            <a:spAutoFit/>
          </a:bodyPr>
          <a:lstStyle/>
          <a:p>
            <a:pPr algn="ctr"/>
            <a:r>
              <a:rPr sz="900" b="0">
                <a:solidFill>
                  <a:srgbClr val="B9CACF"/>
                </a:solidFill>
                <a:latin typeface="Aptos"/>
              </a:rPr>
              <a:t>$3,000 bonus total; remaining target becomes $7,000.</a:t>
            </a:r>
          </a:p>
        </p:txBody>
      </p:sp>
      <p:sp>
        <p:nvSpPr>
          <p:cNvPr id="15" name="Rounded Rectangle 14"/>
          <p:cNvSpPr/>
          <p:nvPr/>
        </p:nvSpPr>
        <p:spPr>
          <a:xfrm>
            <a:off x="4983480" y="1920240"/>
            <a:ext cx="1828800" cy="2148840"/>
          </a:xfrm>
          <a:prstGeom prst="roundRect">
            <a:avLst/>
          </a:prstGeom>
          <a:solidFill>
            <a:srgbClr val="0727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2267712"/>
            <a:ext cx="1463040" cy="384048"/>
          </a:xfrm>
          <a:prstGeom prst="rect">
            <a:avLst/>
          </a:prstGeom>
          <a:noFill/>
        </p:spPr>
        <p:txBody>
          <a:bodyPr wrap="square">
            <a:spAutoFit/>
          </a:bodyPr>
          <a:lstStyle/>
          <a:p>
            <a:pPr algn="ctr"/>
            <a:r>
              <a:rPr sz="2400" b="1">
                <a:solidFill>
                  <a:srgbClr val="34D399"/>
                </a:solidFill>
                <a:latin typeface="Aptos"/>
              </a:rPr>
              <a:t>5</a:t>
            </a:r>
          </a:p>
        </p:txBody>
      </p:sp>
      <p:sp>
        <p:nvSpPr>
          <p:cNvPr id="17" name="TextBox 16"/>
          <p:cNvSpPr txBox="1"/>
          <p:nvPr/>
        </p:nvSpPr>
        <p:spPr>
          <a:xfrm>
            <a:off x="5148072" y="2971800"/>
            <a:ext cx="1499616" cy="640080"/>
          </a:xfrm>
          <a:prstGeom prst="rect">
            <a:avLst/>
          </a:prstGeom>
          <a:noFill/>
        </p:spPr>
        <p:txBody>
          <a:bodyPr wrap="square">
            <a:spAutoFit/>
          </a:bodyPr>
          <a:lstStyle/>
          <a:p>
            <a:pPr algn="ctr"/>
            <a:r>
              <a:rPr sz="900" b="0">
                <a:solidFill>
                  <a:srgbClr val="B9CACF"/>
                </a:solidFill>
                <a:latin typeface="Aptos"/>
              </a:rPr>
              <a:t>$5,000 bonus total; remaining target becomes $5,000.</a:t>
            </a:r>
          </a:p>
        </p:txBody>
      </p:sp>
      <p:sp>
        <p:nvSpPr>
          <p:cNvPr id="18" name="Rounded Rectangle 17"/>
          <p:cNvSpPr/>
          <p:nvPr/>
        </p:nvSpPr>
        <p:spPr>
          <a:xfrm>
            <a:off x="7132320" y="1920240"/>
            <a:ext cx="1828800" cy="2148840"/>
          </a:xfrm>
          <a:prstGeom prst="roundRect">
            <a:avLst/>
          </a:prstGeom>
          <a:solidFill>
            <a:srgbClr val="07272D"/>
          </a:solidFill>
          <a:ln>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2267712"/>
            <a:ext cx="1463040" cy="384048"/>
          </a:xfrm>
          <a:prstGeom prst="rect">
            <a:avLst/>
          </a:prstGeom>
          <a:noFill/>
        </p:spPr>
        <p:txBody>
          <a:bodyPr wrap="square">
            <a:spAutoFit/>
          </a:bodyPr>
          <a:lstStyle/>
          <a:p>
            <a:pPr algn="ctr"/>
            <a:r>
              <a:rPr sz="2400" b="1">
                <a:solidFill>
                  <a:srgbClr val="F472B6"/>
                </a:solidFill>
                <a:latin typeface="Aptos"/>
              </a:rPr>
              <a:t>10</a:t>
            </a:r>
          </a:p>
        </p:txBody>
      </p:sp>
      <p:sp>
        <p:nvSpPr>
          <p:cNvPr id="20" name="TextBox 19"/>
          <p:cNvSpPr txBox="1"/>
          <p:nvPr/>
        </p:nvSpPr>
        <p:spPr>
          <a:xfrm>
            <a:off x="7296912" y="2971800"/>
            <a:ext cx="1499616" cy="640080"/>
          </a:xfrm>
          <a:prstGeom prst="rect">
            <a:avLst/>
          </a:prstGeom>
          <a:noFill/>
        </p:spPr>
        <p:txBody>
          <a:bodyPr wrap="square">
            <a:spAutoFit/>
          </a:bodyPr>
          <a:lstStyle/>
          <a:p>
            <a:pPr algn="ctr"/>
            <a:r>
              <a:rPr sz="900" b="0">
                <a:solidFill>
                  <a:srgbClr val="B9CACF"/>
                </a:solidFill>
                <a:latin typeface="Aptos"/>
              </a:rPr>
              <a:t>$10,000 bonus total; ROI target cleared.</a:t>
            </a:r>
          </a:p>
        </p:txBody>
      </p:sp>
      <p:sp>
        <p:nvSpPr>
          <p:cNvPr id="21" name="Rounded Rectangle 20"/>
          <p:cNvSpPr/>
          <p:nvPr/>
        </p:nvSpPr>
        <p:spPr>
          <a:xfrm>
            <a:off x="9281160" y="1920240"/>
            <a:ext cx="1828800" cy="2148840"/>
          </a:xfrm>
          <a:prstGeom prst="roundRect">
            <a:avLst/>
          </a:prstGeom>
          <a:solidFill>
            <a:srgbClr val="07272D"/>
          </a:solidFill>
          <a:ln>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4040" y="2267712"/>
            <a:ext cx="1463040" cy="384048"/>
          </a:xfrm>
          <a:prstGeom prst="rect">
            <a:avLst/>
          </a:prstGeom>
          <a:noFill/>
        </p:spPr>
        <p:txBody>
          <a:bodyPr wrap="square">
            <a:spAutoFit/>
          </a:bodyPr>
          <a:lstStyle/>
          <a:p>
            <a:pPr algn="ctr"/>
            <a:r>
              <a:rPr sz="2400" b="1">
                <a:solidFill>
                  <a:srgbClr val="22D3EE"/>
                </a:solidFill>
                <a:latin typeface="Aptos"/>
              </a:rPr>
              <a:t>Again</a:t>
            </a:r>
          </a:p>
        </p:txBody>
      </p:sp>
      <p:sp>
        <p:nvSpPr>
          <p:cNvPr id="23" name="TextBox 22"/>
          <p:cNvSpPr txBox="1"/>
          <p:nvPr/>
        </p:nvSpPr>
        <p:spPr>
          <a:xfrm>
            <a:off x="9445752" y="2971800"/>
            <a:ext cx="1499616" cy="640080"/>
          </a:xfrm>
          <a:prstGeom prst="rect">
            <a:avLst/>
          </a:prstGeom>
          <a:noFill/>
        </p:spPr>
        <p:txBody>
          <a:bodyPr wrap="square">
            <a:spAutoFit/>
          </a:bodyPr>
          <a:lstStyle/>
          <a:p>
            <a:pPr algn="ctr"/>
            <a:r>
              <a:rPr sz="900" b="0">
                <a:solidFill>
                  <a:srgbClr val="B9CACF"/>
                </a:solidFill>
                <a:latin typeface="Aptos"/>
              </a:rPr>
              <a:t>Investor may join again after contract completion.</a:t>
            </a:r>
          </a:p>
        </p:txBody>
      </p:sp>
      <p:sp>
        <p:nvSpPr>
          <p:cNvPr id="24" name="TextBox 23"/>
          <p:cNvSpPr txBox="1"/>
          <p:nvPr/>
        </p:nvSpPr>
        <p:spPr>
          <a:xfrm>
            <a:off x="749808" y="4892040"/>
            <a:ext cx="9875520" cy="640080"/>
          </a:xfrm>
          <a:prstGeom prst="rect">
            <a:avLst/>
          </a:prstGeom>
          <a:noFill/>
        </p:spPr>
        <p:txBody>
          <a:bodyPr wrap="square">
            <a:spAutoFit/>
          </a:bodyPr>
          <a:lstStyle/>
          <a:p>
            <a:pPr algn="ctr"/>
            <a:r>
              <a:rPr sz="1200" b="1">
                <a:solidFill>
                  <a:srgbClr val="FFFFFF"/>
                </a:solidFill>
                <a:latin typeface="Aptos"/>
              </a:rPr>
              <a:t>Each invited friend invests $5,000. The inviter receives $1,000, deducted from the inviter's remaining ROI target.</a:t>
            </a:r>
          </a:p>
        </p:txBody>
      </p:sp>
      <p:sp>
        <p:nvSpPr>
          <p:cNvPr id="25" name="TextBox 24"/>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26" name="TextBox 25"/>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Blindbox Pet Economy</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Doluruu pets create daily token habits and prize exchange reasons.</a:t>
            </a:r>
          </a:p>
        </p:txBody>
      </p:sp>
      <p:pic>
        <p:nvPicPr>
          <p:cNvPr id="9" name="Picture 8" descr="Doluruu Boy_1749664545355.png"/>
          <p:cNvPicPr>
            <a:picLocks noChangeAspect="1"/>
          </p:cNvPicPr>
          <p:nvPr/>
        </p:nvPicPr>
        <p:blipFill>
          <a:blip r:embed="rId2"/>
          <a:stretch>
            <a:fillRect/>
          </a:stretch>
        </p:blipFill>
        <p:spPr>
          <a:xfrm>
            <a:off x="777240" y="1920240"/>
            <a:ext cx="1143000" cy="1143000"/>
          </a:xfrm>
          <a:prstGeom prst="rect">
            <a:avLst/>
          </a:prstGeom>
        </p:spPr>
      </p:pic>
      <p:pic>
        <p:nvPicPr>
          <p:cNvPr id="10" name="Picture 9" descr="doluruu-female-transparent.png"/>
          <p:cNvPicPr>
            <a:picLocks noChangeAspect="1"/>
          </p:cNvPicPr>
          <p:nvPr/>
        </p:nvPicPr>
        <p:blipFill>
          <a:blip r:embed="rId3"/>
          <a:stretch>
            <a:fillRect/>
          </a:stretch>
        </p:blipFill>
        <p:spPr>
          <a:xfrm>
            <a:off x="2148840" y="1874519"/>
            <a:ext cx="1170432" cy="1170432"/>
          </a:xfrm>
          <a:prstGeom prst="rect">
            <a:avLst/>
          </a:prstGeom>
        </p:spPr>
      </p:pic>
      <p:pic>
        <p:nvPicPr>
          <p:cNvPr id="11" name="Picture 10" descr="Doluruu Baby_1749663725243.png"/>
          <p:cNvPicPr>
            <a:picLocks noChangeAspect="1"/>
          </p:cNvPicPr>
          <p:nvPr/>
        </p:nvPicPr>
        <p:blipFill>
          <a:blip r:embed="rId4"/>
          <a:stretch>
            <a:fillRect/>
          </a:stretch>
        </p:blipFill>
        <p:spPr>
          <a:xfrm>
            <a:off x="3493008" y="2029968"/>
            <a:ext cx="960120" cy="960120"/>
          </a:xfrm>
          <a:prstGeom prst="rect">
            <a:avLst/>
          </a:prstGeom>
        </p:spPr>
      </p:pic>
      <p:pic>
        <p:nvPicPr>
          <p:cNvPr id="12" name="Picture 11" descr="doluruu-blindbox-box.jpeg"/>
          <p:cNvPicPr>
            <a:picLocks noChangeAspect="1"/>
          </p:cNvPicPr>
          <p:nvPr/>
        </p:nvPicPr>
        <p:blipFill>
          <a:blip r:embed="rId5"/>
          <a:stretch>
            <a:fillRect/>
          </a:stretch>
        </p:blipFill>
        <p:spPr>
          <a:xfrm>
            <a:off x="4892040" y="1828800"/>
            <a:ext cx="2423160" cy="1508760"/>
          </a:xfrm>
          <a:prstGeom prst="rect">
            <a:avLst/>
          </a:prstGeom>
        </p:spPr>
      </p:pic>
      <p:sp>
        <p:nvSpPr>
          <p:cNvPr id="13" name="Rounded Rectangle 12"/>
          <p:cNvSpPr/>
          <p:nvPr/>
        </p:nvSpPr>
        <p:spPr>
          <a:xfrm>
            <a:off x="7635240" y="1417320"/>
            <a:ext cx="3337560" cy="73152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9831" y="1554480"/>
            <a:ext cx="3008376" cy="301752"/>
          </a:xfrm>
          <a:prstGeom prst="rect">
            <a:avLst/>
          </a:prstGeom>
          <a:noFill/>
        </p:spPr>
        <p:txBody>
          <a:bodyPr wrap="square">
            <a:spAutoFit/>
          </a:bodyPr>
          <a:lstStyle/>
          <a:p>
            <a:r>
              <a:rPr sz="1400" b="1">
                <a:solidFill>
                  <a:srgbClr val="F8D477"/>
                </a:solidFill>
                <a:latin typeface="Aptos"/>
              </a:rPr>
              <a:t>Investor Gift</a:t>
            </a:r>
          </a:p>
        </p:txBody>
      </p:sp>
      <p:sp>
        <p:nvSpPr>
          <p:cNvPr id="15" name="TextBox 14"/>
          <p:cNvSpPr txBox="1"/>
          <p:nvPr/>
        </p:nvSpPr>
        <p:spPr>
          <a:xfrm>
            <a:off x="7799831" y="1929384"/>
            <a:ext cx="3008376" cy="73152"/>
          </a:xfrm>
          <a:prstGeom prst="rect">
            <a:avLst/>
          </a:prstGeom>
          <a:noFill/>
        </p:spPr>
        <p:txBody>
          <a:bodyPr wrap="square">
            <a:spAutoFit/>
          </a:bodyPr>
          <a:lstStyle/>
          <a:p>
            <a:r>
              <a:rPr sz="900" b="0">
                <a:solidFill>
                  <a:srgbClr val="B9CACF"/>
                </a:solidFill>
                <a:latin typeface="Aptos"/>
              </a:rPr>
              <a:t>1 free blindbox per investor package.</a:t>
            </a:r>
          </a:p>
        </p:txBody>
      </p:sp>
      <p:sp>
        <p:nvSpPr>
          <p:cNvPr id="16" name="Rounded Rectangle 15"/>
          <p:cNvSpPr/>
          <p:nvPr/>
        </p:nvSpPr>
        <p:spPr>
          <a:xfrm>
            <a:off x="7635240" y="2377440"/>
            <a:ext cx="3337560" cy="73152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99831" y="2514600"/>
            <a:ext cx="3008376" cy="301752"/>
          </a:xfrm>
          <a:prstGeom prst="rect">
            <a:avLst/>
          </a:prstGeom>
          <a:noFill/>
        </p:spPr>
        <p:txBody>
          <a:bodyPr wrap="square">
            <a:spAutoFit/>
          </a:bodyPr>
          <a:lstStyle/>
          <a:p>
            <a:r>
              <a:rPr sz="1400" b="1">
                <a:solidFill>
                  <a:srgbClr val="22D3EE"/>
                </a:solidFill>
                <a:latin typeface="Aptos"/>
              </a:rPr>
              <a:t>Male + Female</a:t>
            </a:r>
          </a:p>
        </p:txBody>
      </p:sp>
      <p:sp>
        <p:nvSpPr>
          <p:cNvPr id="18" name="TextBox 17"/>
          <p:cNvSpPr txBox="1"/>
          <p:nvPr/>
        </p:nvSpPr>
        <p:spPr>
          <a:xfrm>
            <a:off x="7799831" y="2889504"/>
            <a:ext cx="3008376" cy="73152"/>
          </a:xfrm>
          <a:prstGeom prst="rect">
            <a:avLst/>
          </a:prstGeom>
          <a:noFill/>
        </p:spPr>
        <p:txBody>
          <a:bodyPr wrap="square">
            <a:spAutoFit/>
          </a:bodyPr>
          <a:lstStyle/>
          <a:p>
            <a:r>
              <a:rPr sz="900" b="0">
                <a:solidFill>
                  <a:srgbClr val="B9CACF"/>
                </a:solidFill>
                <a:latin typeface="Aptos"/>
              </a:rPr>
              <a:t>Owning both unlocks 1 baby pet free.</a:t>
            </a:r>
          </a:p>
        </p:txBody>
      </p:sp>
      <p:sp>
        <p:nvSpPr>
          <p:cNvPr id="19" name="Rounded Rectangle 18"/>
          <p:cNvSpPr/>
          <p:nvPr/>
        </p:nvSpPr>
        <p:spPr>
          <a:xfrm>
            <a:off x="7635240" y="3337560"/>
            <a:ext cx="3337560" cy="73152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99831" y="3474720"/>
            <a:ext cx="3008376" cy="301752"/>
          </a:xfrm>
          <a:prstGeom prst="rect">
            <a:avLst/>
          </a:prstGeom>
          <a:noFill/>
        </p:spPr>
        <p:txBody>
          <a:bodyPr wrap="square">
            <a:spAutoFit/>
          </a:bodyPr>
          <a:lstStyle/>
          <a:p>
            <a:r>
              <a:rPr sz="1400" b="1">
                <a:solidFill>
                  <a:srgbClr val="34D399"/>
                </a:solidFill>
                <a:latin typeface="Aptos"/>
              </a:rPr>
              <a:t>Daily Tokens</a:t>
            </a:r>
          </a:p>
        </p:txBody>
      </p:sp>
      <p:sp>
        <p:nvSpPr>
          <p:cNvPr id="21" name="TextBox 20"/>
          <p:cNvSpPr txBox="1"/>
          <p:nvPr/>
        </p:nvSpPr>
        <p:spPr>
          <a:xfrm>
            <a:off x="7799831" y="3849624"/>
            <a:ext cx="3008376" cy="73152"/>
          </a:xfrm>
          <a:prstGeom prst="rect">
            <a:avLst/>
          </a:prstGeom>
          <a:noFill/>
        </p:spPr>
        <p:txBody>
          <a:bodyPr wrap="square">
            <a:spAutoFit/>
          </a:bodyPr>
          <a:lstStyle/>
          <a:p>
            <a:r>
              <a:rPr sz="900" b="0">
                <a:solidFill>
                  <a:srgbClr val="B9CACF"/>
                </a:solidFill>
                <a:latin typeface="Aptos"/>
              </a:rPr>
              <a:t>Feed each pet daily to earn tokens.</a:t>
            </a:r>
          </a:p>
        </p:txBody>
      </p:sp>
      <p:sp>
        <p:nvSpPr>
          <p:cNvPr id="22" name="Rounded Rectangle 21"/>
          <p:cNvSpPr/>
          <p:nvPr/>
        </p:nvSpPr>
        <p:spPr>
          <a:xfrm>
            <a:off x="7635240" y="4297680"/>
            <a:ext cx="3337560" cy="73152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9831" y="4434840"/>
            <a:ext cx="3008376" cy="301752"/>
          </a:xfrm>
          <a:prstGeom prst="rect">
            <a:avLst/>
          </a:prstGeom>
          <a:noFill/>
        </p:spPr>
        <p:txBody>
          <a:bodyPr wrap="square">
            <a:spAutoFit/>
          </a:bodyPr>
          <a:lstStyle/>
          <a:p>
            <a:r>
              <a:rPr sz="1400" b="1">
                <a:solidFill>
                  <a:srgbClr val="F472B6"/>
                </a:solidFill>
                <a:latin typeface="Aptos"/>
              </a:rPr>
              <a:t>Prize Exchange</a:t>
            </a:r>
          </a:p>
        </p:txBody>
      </p:sp>
      <p:sp>
        <p:nvSpPr>
          <p:cNvPr id="24" name="TextBox 23"/>
          <p:cNvSpPr txBox="1"/>
          <p:nvPr/>
        </p:nvSpPr>
        <p:spPr>
          <a:xfrm>
            <a:off x="7799831" y="4809744"/>
            <a:ext cx="3008376" cy="73152"/>
          </a:xfrm>
          <a:prstGeom prst="rect">
            <a:avLst/>
          </a:prstGeom>
          <a:noFill/>
        </p:spPr>
        <p:txBody>
          <a:bodyPr wrap="square">
            <a:spAutoFit/>
          </a:bodyPr>
          <a:lstStyle/>
          <a:p>
            <a:r>
              <a:rPr sz="900" b="0">
                <a:solidFill>
                  <a:srgbClr val="B9CACF"/>
                </a:solidFill>
                <a:latin typeface="Aptos"/>
              </a:rPr>
              <a:t>Tokens can support rewards, upgrades, and club campaigns.</a:t>
            </a:r>
          </a:p>
        </p:txBody>
      </p:sp>
      <p:sp>
        <p:nvSpPr>
          <p:cNvPr id="25" name="TextBox 24"/>
          <p:cNvSpPr txBox="1"/>
          <p:nvPr/>
        </p:nvSpPr>
        <p:spPr>
          <a:xfrm>
            <a:off x="868680" y="4389120"/>
            <a:ext cx="6217920" cy="502920"/>
          </a:xfrm>
          <a:prstGeom prst="rect">
            <a:avLst/>
          </a:prstGeom>
          <a:noFill/>
        </p:spPr>
        <p:txBody>
          <a:bodyPr wrap="square">
            <a:spAutoFit/>
          </a:bodyPr>
          <a:lstStyle/>
          <a:p>
            <a:r>
              <a:rPr sz="1700" b="1">
                <a:solidFill>
                  <a:srgbClr val="F8D477"/>
                </a:solidFill>
                <a:latin typeface="Aptos"/>
              </a:rPr>
              <a:t>3 pets = 3 daily tokens: male + female + baby.</a:t>
            </a:r>
          </a:p>
        </p:txBody>
      </p:sp>
      <p:sp>
        <p:nvSpPr>
          <p:cNvPr id="26" name="TextBox 25"/>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27" name="TextBox 26"/>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Marketing Agent Team</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Ruflo-style agents coordinate content, engagement, investor leads, partnerships, and analytics.</a:t>
            </a:r>
          </a:p>
        </p:txBody>
      </p:sp>
      <p:sp>
        <p:nvSpPr>
          <p:cNvPr id="9" name="Rounded Rectangle 8"/>
          <p:cNvSpPr/>
          <p:nvPr/>
        </p:nvSpPr>
        <p:spPr>
          <a:xfrm>
            <a:off x="594360" y="1572768"/>
            <a:ext cx="3337560" cy="1115568"/>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709928"/>
            <a:ext cx="3008376" cy="301752"/>
          </a:xfrm>
          <a:prstGeom prst="rect">
            <a:avLst/>
          </a:prstGeom>
          <a:noFill/>
        </p:spPr>
        <p:txBody>
          <a:bodyPr wrap="square">
            <a:spAutoFit/>
          </a:bodyPr>
          <a:lstStyle/>
          <a:p>
            <a:r>
              <a:rPr sz="1400" b="1">
                <a:solidFill>
                  <a:srgbClr val="F8D477"/>
                </a:solidFill>
                <a:latin typeface="Aptos"/>
              </a:rPr>
              <a:t>Growth Queen</a:t>
            </a:r>
          </a:p>
        </p:txBody>
      </p:sp>
      <p:sp>
        <p:nvSpPr>
          <p:cNvPr id="11" name="TextBox 10"/>
          <p:cNvSpPr txBox="1"/>
          <p:nvPr/>
        </p:nvSpPr>
        <p:spPr>
          <a:xfrm>
            <a:off x="758952" y="2084832"/>
            <a:ext cx="3008376" cy="457200"/>
          </a:xfrm>
          <a:prstGeom prst="rect">
            <a:avLst/>
          </a:prstGeom>
          <a:noFill/>
        </p:spPr>
        <p:txBody>
          <a:bodyPr wrap="square">
            <a:spAutoFit/>
          </a:bodyPr>
          <a:lstStyle/>
          <a:p>
            <a:r>
              <a:rPr sz="900" b="0">
                <a:solidFill>
                  <a:srgbClr val="B9CACF"/>
                </a:solidFill>
                <a:latin typeface="Aptos"/>
              </a:rPr>
              <a:t>Sets weekly priorities, assigns agents, and checks compliance.</a:t>
            </a:r>
          </a:p>
        </p:txBody>
      </p:sp>
      <p:sp>
        <p:nvSpPr>
          <p:cNvPr id="12" name="Rounded Rectangle 11"/>
          <p:cNvSpPr/>
          <p:nvPr/>
        </p:nvSpPr>
        <p:spPr>
          <a:xfrm>
            <a:off x="4297680" y="1572768"/>
            <a:ext cx="3337560" cy="1115568"/>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1709928"/>
            <a:ext cx="3008376" cy="301752"/>
          </a:xfrm>
          <a:prstGeom prst="rect">
            <a:avLst/>
          </a:prstGeom>
          <a:noFill/>
        </p:spPr>
        <p:txBody>
          <a:bodyPr wrap="square">
            <a:spAutoFit/>
          </a:bodyPr>
          <a:lstStyle/>
          <a:p>
            <a:r>
              <a:rPr sz="1400" b="1">
                <a:solidFill>
                  <a:srgbClr val="22D3EE"/>
                </a:solidFill>
                <a:latin typeface="Aptos"/>
              </a:rPr>
              <a:t>Content Producer</a:t>
            </a:r>
          </a:p>
        </p:txBody>
      </p:sp>
      <p:sp>
        <p:nvSpPr>
          <p:cNvPr id="14" name="TextBox 13"/>
          <p:cNvSpPr txBox="1"/>
          <p:nvPr/>
        </p:nvSpPr>
        <p:spPr>
          <a:xfrm>
            <a:off x="4462272" y="2084832"/>
            <a:ext cx="3008376" cy="457200"/>
          </a:xfrm>
          <a:prstGeom prst="rect">
            <a:avLst/>
          </a:prstGeom>
          <a:noFill/>
        </p:spPr>
        <p:txBody>
          <a:bodyPr wrap="square">
            <a:spAutoFit/>
          </a:bodyPr>
          <a:lstStyle/>
          <a:p>
            <a:r>
              <a:rPr sz="900" b="0">
                <a:solidFill>
                  <a:srgbClr val="B9CACF"/>
                </a:solidFill>
                <a:latin typeface="Aptos"/>
              </a:rPr>
              <a:t>Creates Reels, carousels, captions, and multilingual posts.</a:t>
            </a:r>
          </a:p>
        </p:txBody>
      </p:sp>
      <p:sp>
        <p:nvSpPr>
          <p:cNvPr id="15" name="Rounded Rectangle 14"/>
          <p:cNvSpPr/>
          <p:nvPr/>
        </p:nvSpPr>
        <p:spPr>
          <a:xfrm>
            <a:off x="8001000" y="1572768"/>
            <a:ext cx="3337560" cy="1115568"/>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1709928"/>
            <a:ext cx="3008376" cy="301752"/>
          </a:xfrm>
          <a:prstGeom prst="rect">
            <a:avLst/>
          </a:prstGeom>
          <a:noFill/>
        </p:spPr>
        <p:txBody>
          <a:bodyPr wrap="square">
            <a:spAutoFit/>
          </a:bodyPr>
          <a:lstStyle/>
          <a:p>
            <a:r>
              <a:rPr sz="1400" b="1">
                <a:solidFill>
                  <a:srgbClr val="34D399"/>
                </a:solidFill>
                <a:latin typeface="Aptos"/>
              </a:rPr>
              <a:t>Social Amplifier</a:t>
            </a:r>
          </a:p>
        </p:txBody>
      </p:sp>
      <p:sp>
        <p:nvSpPr>
          <p:cNvPr id="17" name="TextBox 16"/>
          <p:cNvSpPr txBox="1"/>
          <p:nvPr/>
        </p:nvSpPr>
        <p:spPr>
          <a:xfrm>
            <a:off x="8165592" y="2084832"/>
            <a:ext cx="3008376" cy="457200"/>
          </a:xfrm>
          <a:prstGeom prst="rect">
            <a:avLst/>
          </a:prstGeom>
          <a:noFill/>
        </p:spPr>
        <p:txBody>
          <a:bodyPr wrap="square">
            <a:spAutoFit/>
          </a:bodyPr>
          <a:lstStyle/>
          <a:p>
            <a:r>
              <a:rPr sz="900" b="0">
                <a:solidFill>
                  <a:srgbClr val="B9CACF"/>
                </a:solidFill>
                <a:latin typeface="Aptos"/>
              </a:rPr>
              <a:t>Runs polls, comments, UGC prompts, and share mechanics.</a:t>
            </a:r>
          </a:p>
        </p:txBody>
      </p:sp>
      <p:sp>
        <p:nvSpPr>
          <p:cNvPr id="18" name="Rounded Rectangle 17"/>
          <p:cNvSpPr/>
          <p:nvPr/>
        </p:nvSpPr>
        <p:spPr>
          <a:xfrm>
            <a:off x="594360" y="3081528"/>
            <a:ext cx="3337560" cy="1115568"/>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218688"/>
            <a:ext cx="3008376" cy="301752"/>
          </a:xfrm>
          <a:prstGeom prst="rect">
            <a:avLst/>
          </a:prstGeom>
          <a:noFill/>
        </p:spPr>
        <p:txBody>
          <a:bodyPr wrap="square">
            <a:spAutoFit/>
          </a:bodyPr>
          <a:lstStyle/>
          <a:p>
            <a:r>
              <a:rPr sz="1400" b="1">
                <a:solidFill>
                  <a:srgbClr val="F472B6"/>
                </a:solidFill>
                <a:latin typeface="Aptos"/>
              </a:rPr>
              <a:t>Investor Leads</a:t>
            </a:r>
          </a:p>
        </p:txBody>
      </p:sp>
      <p:sp>
        <p:nvSpPr>
          <p:cNvPr id="20" name="TextBox 19"/>
          <p:cNvSpPr txBox="1"/>
          <p:nvPr/>
        </p:nvSpPr>
        <p:spPr>
          <a:xfrm>
            <a:off x="758952" y="3593592"/>
            <a:ext cx="3008376" cy="457200"/>
          </a:xfrm>
          <a:prstGeom prst="rect">
            <a:avLst/>
          </a:prstGeom>
          <a:noFill/>
        </p:spPr>
        <p:txBody>
          <a:bodyPr wrap="square">
            <a:spAutoFit/>
          </a:bodyPr>
          <a:lstStyle/>
          <a:p>
            <a:r>
              <a:rPr sz="900" b="0">
                <a:solidFill>
                  <a:srgbClr val="B9CACF"/>
                </a:solidFill>
                <a:latin typeface="Aptos"/>
              </a:rPr>
              <a:t>Builds investor posts, WhatsApp scripts, FAQs, and follow-ups.</a:t>
            </a:r>
          </a:p>
        </p:txBody>
      </p:sp>
      <p:sp>
        <p:nvSpPr>
          <p:cNvPr id="21" name="Rounded Rectangle 20"/>
          <p:cNvSpPr/>
          <p:nvPr/>
        </p:nvSpPr>
        <p:spPr>
          <a:xfrm>
            <a:off x="4297680" y="3081528"/>
            <a:ext cx="3337560" cy="1115568"/>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62272" y="3218688"/>
            <a:ext cx="3008376" cy="301752"/>
          </a:xfrm>
          <a:prstGeom prst="rect">
            <a:avLst/>
          </a:prstGeom>
          <a:noFill/>
        </p:spPr>
        <p:txBody>
          <a:bodyPr wrap="square">
            <a:spAutoFit/>
          </a:bodyPr>
          <a:lstStyle/>
          <a:p>
            <a:r>
              <a:rPr sz="1400" b="1">
                <a:solidFill>
                  <a:srgbClr val="A78BFA"/>
                </a:solidFill>
                <a:latin typeface="Aptos"/>
              </a:rPr>
              <a:t>Partnerships</a:t>
            </a:r>
          </a:p>
        </p:txBody>
      </p:sp>
      <p:sp>
        <p:nvSpPr>
          <p:cNvPr id="23" name="TextBox 22"/>
          <p:cNvSpPr txBox="1"/>
          <p:nvPr/>
        </p:nvSpPr>
        <p:spPr>
          <a:xfrm>
            <a:off x="4462272" y="3593592"/>
            <a:ext cx="3008376" cy="457200"/>
          </a:xfrm>
          <a:prstGeom prst="rect">
            <a:avLst/>
          </a:prstGeom>
          <a:noFill/>
        </p:spPr>
        <p:txBody>
          <a:bodyPr wrap="square">
            <a:spAutoFit/>
          </a:bodyPr>
          <a:lstStyle/>
          <a:p>
            <a:r>
              <a:rPr sz="900" b="0">
                <a:solidFill>
                  <a:srgbClr val="B9CACF"/>
                </a:solidFill>
                <a:latin typeface="Aptos"/>
              </a:rPr>
              <a:t>Targets creators, singers, salons, hotels, pet groups, and events.</a:t>
            </a:r>
          </a:p>
        </p:txBody>
      </p:sp>
      <p:sp>
        <p:nvSpPr>
          <p:cNvPr id="24" name="Rounded Rectangle 23"/>
          <p:cNvSpPr/>
          <p:nvPr/>
        </p:nvSpPr>
        <p:spPr>
          <a:xfrm>
            <a:off x="8001000" y="3081528"/>
            <a:ext cx="3337560" cy="1115568"/>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5592" y="3218688"/>
            <a:ext cx="3008376" cy="301752"/>
          </a:xfrm>
          <a:prstGeom prst="rect">
            <a:avLst/>
          </a:prstGeom>
          <a:noFill/>
        </p:spPr>
        <p:txBody>
          <a:bodyPr wrap="square">
            <a:spAutoFit/>
          </a:bodyPr>
          <a:lstStyle/>
          <a:p>
            <a:r>
              <a:rPr sz="1400" b="1">
                <a:solidFill>
                  <a:srgbClr val="22D3EE"/>
                </a:solidFill>
                <a:latin typeface="Aptos"/>
              </a:rPr>
              <a:t>Analytics Optimizer</a:t>
            </a:r>
          </a:p>
        </p:txBody>
      </p:sp>
      <p:sp>
        <p:nvSpPr>
          <p:cNvPr id="26" name="TextBox 25"/>
          <p:cNvSpPr txBox="1"/>
          <p:nvPr/>
        </p:nvSpPr>
        <p:spPr>
          <a:xfrm>
            <a:off x="8165592" y="3593592"/>
            <a:ext cx="3008376" cy="457200"/>
          </a:xfrm>
          <a:prstGeom prst="rect">
            <a:avLst/>
          </a:prstGeom>
          <a:noFill/>
        </p:spPr>
        <p:txBody>
          <a:bodyPr wrap="square">
            <a:spAutoFit/>
          </a:bodyPr>
          <a:lstStyle/>
          <a:p>
            <a:r>
              <a:rPr sz="900" b="0">
                <a:solidFill>
                  <a:srgbClr val="B9CACF"/>
                </a:solidFill>
                <a:latin typeface="Aptos"/>
              </a:rPr>
              <a:t>Tracks reach, shares, map clicks, inquiries, calls, and signups.</a:t>
            </a:r>
          </a:p>
        </p:txBody>
      </p:sp>
      <p:sp>
        <p:nvSpPr>
          <p:cNvPr id="27" name="TextBox 26"/>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28" name="TextBox 27"/>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Location</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A clear Batam destination with map-click convenience for visitors and investor hosting.</a:t>
            </a:r>
          </a:p>
        </p:txBody>
      </p:sp>
      <p:sp>
        <p:nvSpPr>
          <p:cNvPr id="9" name="Rounded Rectangle 8"/>
          <p:cNvSpPr/>
          <p:nvPr/>
        </p:nvSpPr>
        <p:spPr>
          <a:xfrm>
            <a:off x="685800" y="1691640"/>
            <a:ext cx="5577840" cy="242316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993392"/>
            <a:ext cx="4846320" cy="347472"/>
          </a:xfrm>
          <a:prstGeom prst="rect">
            <a:avLst/>
          </a:prstGeom>
          <a:noFill/>
        </p:spPr>
        <p:txBody>
          <a:bodyPr wrap="square">
            <a:spAutoFit/>
          </a:bodyPr>
          <a:lstStyle/>
          <a:p>
            <a:r>
              <a:rPr sz="2000" b="1">
                <a:solidFill>
                  <a:srgbClr val="F8D477"/>
                </a:solidFill>
                <a:latin typeface="Aptos"/>
              </a:rPr>
              <a:t>Ruko Oceanic Bliss</a:t>
            </a:r>
          </a:p>
        </p:txBody>
      </p:sp>
      <p:sp>
        <p:nvSpPr>
          <p:cNvPr id="11" name="TextBox 10"/>
          <p:cNvSpPr txBox="1"/>
          <p:nvPr/>
        </p:nvSpPr>
        <p:spPr>
          <a:xfrm>
            <a:off x="960120" y="2606040"/>
            <a:ext cx="4846320" cy="841248"/>
          </a:xfrm>
          <a:prstGeom prst="rect">
            <a:avLst/>
          </a:prstGeom>
          <a:noFill/>
        </p:spPr>
        <p:txBody>
          <a:bodyPr wrap="square">
            <a:spAutoFit/>
          </a:bodyPr>
          <a:lstStyle/>
          <a:p>
            <a:r>
              <a:rPr sz="1300" b="0">
                <a:solidFill>
                  <a:srgbClr val="FFFFFF"/>
                </a:solidFill>
                <a:latin typeface="Aptos"/>
              </a:rPr>
              <a:t>Ruko Oceanic Bliss, Jl. Pasir Putih Harbourfront - Batam Centre.49 blok A. 51, Sadai, Bengkong, Batam City, Riau Islands 29444</a:t>
            </a:r>
          </a:p>
        </p:txBody>
      </p:sp>
      <p:sp>
        <p:nvSpPr>
          <p:cNvPr id="12" name="TextBox 11">
            <a:hlinkClick r:id="rId2"/>
          </p:cNvPr>
          <p:cNvSpPr txBox="1"/>
          <p:nvPr/>
        </p:nvSpPr>
        <p:spPr>
          <a:xfrm>
            <a:off x="960120" y="3611880"/>
            <a:ext cx="3200400" cy="320040"/>
          </a:xfrm>
          <a:prstGeom prst="rect">
            <a:avLst/>
          </a:prstGeom>
          <a:noFill/>
        </p:spPr>
        <p:txBody>
          <a:bodyPr wrap="square">
            <a:spAutoFit/>
          </a:bodyPr>
          <a:lstStyle/>
          <a:p>
            <a:r>
              <a:rPr sz="1400" b="1">
                <a:solidFill>
                  <a:srgbClr val="22D3EE"/>
                </a:solidFill>
                <a:latin typeface="Aptos"/>
              </a:rPr>
              <a:t>Open Google Maps</a:t>
            </a:r>
          </a:p>
        </p:txBody>
      </p:sp>
      <p:sp>
        <p:nvSpPr>
          <p:cNvPr id="13" name="Rounded Rectangle 12"/>
          <p:cNvSpPr/>
          <p:nvPr/>
        </p:nvSpPr>
        <p:spPr>
          <a:xfrm>
            <a:off x="6693408" y="1691640"/>
            <a:ext cx="4160520" cy="2423160"/>
          </a:xfrm>
          <a:prstGeom prst="roundRect">
            <a:avLst/>
          </a:prstGeom>
          <a:solidFill>
            <a:srgbClr val="083D44"/>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2148840"/>
            <a:ext cx="2560320" cy="731520"/>
          </a:xfrm>
          <a:prstGeom prst="rect">
            <a:avLst/>
          </a:prstGeom>
          <a:noFill/>
        </p:spPr>
        <p:txBody>
          <a:bodyPr wrap="square">
            <a:spAutoFit/>
          </a:bodyPr>
          <a:lstStyle/>
          <a:p>
            <a:pPr algn="ctr"/>
            <a:r>
              <a:rPr sz="4000" b="1">
                <a:solidFill>
                  <a:srgbClr val="F8D477"/>
                </a:solidFill>
                <a:latin typeface="Aptos"/>
              </a:rPr>
              <a:t>BATAM</a:t>
            </a:r>
          </a:p>
        </p:txBody>
      </p:sp>
      <p:sp>
        <p:nvSpPr>
          <p:cNvPr id="15" name="TextBox 14">
            <a:hlinkClick r:id="rId2"/>
          </p:cNvPr>
          <p:cNvSpPr txBox="1"/>
          <p:nvPr/>
        </p:nvSpPr>
        <p:spPr>
          <a:xfrm>
            <a:off x="7315200" y="3063240"/>
            <a:ext cx="2971800" cy="320040"/>
          </a:xfrm>
          <a:prstGeom prst="rect">
            <a:avLst/>
          </a:prstGeom>
          <a:noFill/>
        </p:spPr>
        <p:txBody>
          <a:bodyPr wrap="square">
            <a:spAutoFit/>
          </a:bodyPr>
          <a:lstStyle/>
          <a:p>
            <a:pPr algn="ctr"/>
            <a:r>
              <a:rPr sz="1500" b="1">
                <a:solidFill>
                  <a:srgbClr val="FFFFFF"/>
                </a:solidFill>
                <a:latin typeface="Aptos"/>
              </a:rPr>
              <a:t>Open Google Maps</a:t>
            </a:r>
          </a:p>
        </p:txBody>
      </p:sp>
      <p:sp>
        <p:nvSpPr>
          <p:cNvPr id="16" name="TextBox 15"/>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17" name="TextBox 16"/>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3151A"/>
        </a:solidFill>
        <a:effectLst/>
      </p:bgPr>
    </p:bg>
    <p:spTree>
      <p:nvGrpSpPr>
        <p:cNvPr id="1" name=""/>
        <p:cNvGrpSpPr/>
        <p:nvPr/>
      </p:nvGrpSpPr>
      <p:grpSpPr/>
      <p:sp>
        <p:nvSpPr>
          <p:cNvPr id="2" name="Rectangle 1"/>
          <p:cNvSpPr/>
          <p:nvPr/>
        </p:nvSpPr>
        <p:spPr>
          <a:xfrm>
            <a:off x="9646920" y="-182880"/>
            <a:ext cx="2194560" cy="7223760"/>
          </a:xfrm>
          <a:prstGeom prst="rect">
            <a:avLst/>
          </a:prstGeom>
          <a:solidFill>
            <a:srgbClr val="08373D"/>
          </a:solidFill>
          <a:ln>
            <a:solidFill>
              <a:srgbClr val="0837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11480"/>
            <a:ext cx="2103120" cy="2103120"/>
          </a:xfrm>
          <a:prstGeom prst="ellipse">
            <a:avLst/>
          </a:prstGeom>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325880"/>
            <a:ext cx="2103120" cy="2103120"/>
          </a:xfrm>
          <a:prstGeom prst="ellipse">
            <a:avLst/>
          </a:prstGeom>
          <a:solidFill>
            <a:srgbClr val="F8D47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19" y="2240280"/>
            <a:ext cx="2103120" cy="2103120"/>
          </a:xfrm>
          <a:prstGeom prst="ellipse">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
            <a:ext cx="2743200" cy="256032"/>
          </a:xfrm>
          <a:prstGeom prst="rect">
            <a:avLst/>
          </a:prstGeom>
          <a:noFill/>
        </p:spPr>
        <p:txBody>
          <a:bodyPr wrap="square">
            <a:spAutoFit/>
          </a:bodyPr>
          <a:lstStyle/>
          <a:p>
            <a:r>
              <a:rPr sz="900" b="1">
                <a:solidFill>
                  <a:srgbClr val="B9CACF"/>
                </a:solidFill>
                <a:latin typeface="Aptos"/>
              </a:rPr>
              <a:t>REBORN WAVE GROUP | INVESTOR DECK</a:t>
            </a:r>
          </a:p>
        </p:txBody>
      </p:sp>
      <p:sp>
        <p:nvSpPr>
          <p:cNvPr id="7" name="TextBox 6"/>
          <p:cNvSpPr txBox="1"/>
          <p:nvPr/>
        </p:nvSpPr>
        <p:spPr>
          <a:xfrm>
            <a:off x="502920" y="576072"/>
            <a:ext cx="7955279" cy="658368"/>
          </a:xfrm>
          <a:prstGeom prst="rect">
            <a:avLst/>
          </a:prstGeom>
          <a:noFill/>
        </p:spPr>
        <p:txBody>
          <a:bodyPr wrap="square">
            <a:spAutoFit/>
          </a:bodyPr>
          <a:lstStyle/>
          <a:p>
            <a:r>
              <a:rPr sz="3100" b="1">
                <a:solidFill>
                  <a:srgbClr val="FFFFFF"/>
                </a:solidFill>
                <a:latin typeface="Aptos"/>
              </a:rPr>
              <a:t>Next Steps</a:t>
            </a:r>
          </a:p>
        </p:txBody>
      </p:sp>
      <p:sp>
        <p:nvSpPr>
          <p:cNvPr id="8" name="TextBox 7"/>
          <p:cNvSpPr txBox="1"/>
          <p:nvPr/>
        </p:nvSpPr>
        <p:spPr>
          <a:xfrm>
            <a:off x="530352" y="1207008"/>
            <a:ext cx="7589520" cy="457200"/>
          </a:xfrm>
          <a:prstGeom prst="rect">
            <a:avLst/>
          </a:prstGeom>
          <a:noFill/>
        </p:spPr>
        <p:txBody>
          <a:bodyPr wrap="square">
            <a:spAutoFit/>
          </a:bodyPr>
          <a:lstStyle/>
          <a:p>
            <a:r>
              <a:rPr sz="1200" b="0">
                <a:solidFill>
                  <a:srgbClr val="B9CACF"/>
                </a:solidFill>
                <a:latin typeface="Aptos"/>
              </a:rPr>
              <a:t>Move from interest to launch-ready execution with legal review, campaign assets, and partner outreach.</a:t>
            </a:r>
          </a:p>
        </p:txBody>
      </p:sp>
      <p:sp>
        <p:nvSpPr>
          <p:cNvPr id="9" name="Rounded Rectangle 8"/>
          <p:cNvSpPr/>
          <p:nvPr/>
        </p:nvSpPr>
        <p:spPr>
          <a:xfrm>
            <a:off x="685800" y="1600200"/>
            <a:ext cx="10287000" cy="68580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737360"/>
            <a:ext cx="9957816" cy="301752"/>
          </a:xfrm>
          <a:prstGeom prst="rect">
            <a:avLst/>
          </a:prstGeom>
          <a:noFill/>
        </p:spPr>
        <p:txBody>
          <a:bodyPr wrap="square">
            <a:spAutoFit/>
          </a:bodyPr>
          <a:lstStyle/>
          <a:p>
            <a:r>
              <a:rPr sz="1400" b="1">
                <a:solidFill>
                  <a:srgbClr val="22D3EE"/>
                </a:solidFill>
                <a:latin typeface="Aptos"/>
              </a:rPr>
              <a:t>1. Finalize contract</a:t>
            </a:r>
          </a:p>
        </p:txBody>
      </p:sp>
      <p:sp>
        <p:nvSpPr>
          <p:cNvPr id="11" name="TextBox 10"/>
          <p:cNvSpPr txBox="1"/>
          <p:nvPr/>
        </p:nvSpPr>
        <p:spPr>
          <a:xfrm>
            <a:off x="850392" y="2112264"/>
            <a:ext cx="9957816" cy="27432"/>
          </a:xfrm>
          <a:prstGeom prst="rect">
            <a:avLst/>
          </a:prstGeom>
          <a:noFill/>
        </p:spPr>
        <p:txBody>
          <a:bodyPr wrap="square">
            <a:spAutoFit/>
          </a:bodyPr>
          <a:lstStyle/>
          <a:p>
            <a:r>
              <a:rPr sz="900" b="0">
                <a:solidFill>
                  <a:srgbClr val="B9CACF"/>
                </a:solidFill>
                <a:latin typeface="Aptos"/>
              </a:rPr>
              <a:t>Legal review for ROI target language, payout rules, risk disclosure, and referral deductions.</a:t>
            </a:r>
          </a:p>
        </p:txBody>
      </p:sp>
      <p:sp>
        <p:nvSpPr>
          <p:cNvPr id="12" name="Rounded Rectangle 11"/>
          <p:cNvSpPr/>
          <p:nvPr/>
        </p:nvSpPr>
        <p:spPr>
          <a:xfrm>
            <a:off x="685800" y="2542032"/>
            <a:ext cx="10287000" cy="68580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679192"/>
            <a:ext cx="9957816" cy="301752"/>
          </a:xfrm>
          <a:prstGeom prst="rect">
            <a:avLst/>
          </a:prstGeom>
          <a:noFill/>
        </p:spPr>
        <p:txBody>
          <a:bodyPr wrap="square">
            <a:spAutoFit/>
          </a:bodyPr>
          <a:lstStyle/>
          <a:p>
            <a:r>
              <a:rPr sz="1400" b="1">
                <a:solidFill>
                  <a:srgbClr val="F8D477"/>
                </a:solidFill>
                <a:latin typeface="Aptos"/>
              </a:rPr>
              <a:t>2. Launch content engine</a:t>
            </a:r>
          </a:p>
        </p:txBody>
      </p:sp>
      <p:sp>
        <p:nvSpPr>
          <p:cNvPr id="14" name="TextBox 13"/>
          <p:cNvSpPr txBox="1"/>
          <p:nvPr/>
        </p:nvSpPr>
        <p:spPr>
          <a:xfrm>
            <a:off x="850392" y="3054096"/>
            <a:ext cx="9957816" cy="27432"/>
          </a:xfrm>
          <a:prstGeom prst="rect">
            <a:avLst/>
          </a:prstGeom>
          <a:noFill/>
        </p:spPr>
        <p:txBody>
          <a:bodyPr wrap="square">
            <a:spAutoFit/>
          </a:bodyPr>
          <a:lstStyle/>
          <a:p>
            <a:r>
              <a:rPr sz="900" b="0">
                <a:solidFill>
                  <a:srgbClr val="B9CACF"/>
                </a:solidFill>
                <a:latin typeface="Aptos"/>
              </a:rPr>
              <a:t>Daily short-form video, floor tours, Doluruu posts, and event content.</a:t>
            </a:r>
          </a:p>
        </p:txBody>
      </p:sp>
      <p:sp>
        <p:nvSpPr>
          <p:cNvPr id="15" name="Rounded Rectangle 14"/>
          <p:cNvSpPr/>
          <p:nvPr/>
        </p:nvSpPr>
        <p:spPr>
          <a:xfrm>
            <a:off x="685800" y="3483864"/>
            <a:ext cx="10287000" cy="68580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621024"/>
            <a:ext cx="9957816" cy="301752"/>
          </a:xfrm>
          <a:prstGeom prst="rect">
            <a:avLst/>
          </a:prstGeom>
          <a:noFill/>
        </p:spPr>
        <p:txBody>
          <a:bodyPr wrap="square">
            <a:spAutoFit/>
          </a:bodyPr>
          <a:lstStyle/>
          <a:p>
            <a:r>
              <a:rPr sz="1400" b="1">
                <a:solidFill>
                  <a:srgbClr val="34D399"/>
                </a:solidFill>
                <a:latin typeface="Aptos"/>
              </a:rPr>
              <a:t>3. Open investor conversations</a:t>
            </a:r>
          </a:p>
        </p:txBody>
      </p:sp>
      <p:sp>
        <p:nvSpPr>
          <p:cNvPr id="17" name="TextBox 16"/>
          <p:cNvSpPr txBox="1"/>
          <p:nvPr/>
        </p:nvSpPr>
        <p:spPr>
          <a:xfrm>
            <a:off x="850392" y="3995928"/>
            <a:ext cx="9957816" cy="27432"/>
          </a:xfrm>
          <a:prstGeom prst="rect">
            <a:avLst/>
          </a:prstGeom>
          <a:noFill/>
        </p:spPr>
        <p:txBody>
          <a:bodyPr wrap="square">
            <a:spAutoFit/>
          </a:bodyPr>
          <a:lstStyle/>
          <a:p>
            <a:r>
              <a:rPr sz="900" b="0">
                <a:solidFill>
                  <a:srgbClr val="B9CACF"/>
                </a:solidFill>
                <a:latin typeface="Aptos"/>
              </a:rPr>
              <a:t>Use the deck, website, WhatsApp script, and showroom hosting credits.</a:t>
            </a:r>
          </a:p>
        </p:txBody>
      </p:sp>
      <p:sp>
        <p:nvSpPr>
          <p:cNvPr id="18" name="Rounded Rectangle 17"/>
          <p:cNvSpPr/>
          <p:nvPr/>
        </p:nvSpPr>
        <p:spPr>
          <a:xfrm>
            <a:off x="685800" y="4425696"/>
            <a:ext cx="10287000" cy="685800"/>
          </a:xfrm>
          <a:prstGeom prst="roundRect">
            <a:avLst/>
          </a:prstGeom>
          <a:solidFill>
            <a:srgbClr val="0A2A30"/>
          </a:solidFill>
          <a:ln>
            <a:solidFill>
              <a:srgbClr val="1F5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562856"/>
            <a:ext cx="9957816" cy="301752"/>
          </a:xfrm>
          <a:prstGeom prst="rect">
            <a:avLst/>
          </a:prstGeom>
          <a:noFill/>
        </p:spPr>
        <p:txBody>
          <a:bodyPr wrap="square">
            <a:spAutoFit/>
          </a:bodyPr>
          <a:lstStyle/>
          <a:p>
            <a:r>
              <a:rPr sz="1400" b="1">
                <a:solidFill>
                  <a:srgbClr val="F472B6"/>
                </a:solidFill>
                <a:latin typeface="Aptos"/>
              </a:rPr>
              <a:t>4. Recruit the floor team</a:t>
            </a:r>
          </a:p>
        </p:txBody>
      </p:sp>
      <p:sp>
        <p:nvSpPr>
          <p:cNvPr id="20" name="TextBox 19"/>
          <p:cNvSpPr txBox="1"/>
          <p:nvPr/>
        </p:nvSpPr>
        <p:spPr>
          <a:xfrm>
            <a:off x="850392" y="4937760"/>
            <a:ext cx="9957816" cy="27432"/>
          </a:xfrm>
          <a:prstGeom prst="rect">
            <a:avLst/>
          </a:prstGeom>
          <a:noFill/>
        </p:spPr>
        <p:txBody>
          <a:bodyPr wrap="square">
            <a:spAutoFit/>
          </a:bodyPr>
          <a:lstStyle/>
          <a:p>
            <a:r>
              <a:rPr sz="900" b="0">
                <a:solidFill>
                  <a:srgbClr val="B9CACF"/>
                </a:solidFill>
                <a:latin typeface="Aptos"/>
              </a:rPr>
              <a:t>Hosts, singers, stylists, pet cafe crew, event staff, and promoters.</a:t>
            </a:r>
          </a:p>
        </p:txBody>
      </p:sp>
      <p:sp>
        <p:nvSpPr>
          <p:cNvPr id="21" name="TextBox 20"/>
          <p:cNvSpPr txBox="1"/>
          <p:nvPr/>
        </p:nvSpPr>
        <p:spPr>
          <a:xfrm>
            <a:off x="777240" y="5513832"/>
            <a:ext cx="9966960" cy="530352"/>
          </a:xfrm>
          <a:prstGeom prst="rect">
            <a:avLst/>
          </a:prstGeom>
          <a:noFill/>
        </p:spPr>
        <p:txBody>
          <a:bodyPr wrap="square">
            <a:spAutoFit/>
          </a:bodyPr>
          <a:lstStyle/>
          <a:p>
            <a:r>
              <a:rPr sz="800" b="0">
                <a:solidFill>
                  <a:srgbClr val="B9CACF"/>
                </a:solidFill>
                <a:latin typeface="Aptos"/>
              </a:rPr>
              <a:t>This deck is a business and marketing draft. ROI references are targets, not guaranteed returns. Investment contracts, payout rules, profit calculations, referral deductions, compliance requirements, and risk disclosures should be reviewed by qualified legal and financial professionals before launch.</a:t>
            </a:r>
          </a:p>
        </p:txBody>
      </p:sp>
      <p:sp>
        <p:nvSpPr>
          <p:cNvPr id="22" name="TextBox 21"/>
          <p:cNvSpPr txBox="1"/>
          <p:nvPr/>
        </p:nvSpPr>
        <p:spPr>
          <a:xfrm>
            <a:off x="502920" y="6400800"/>
            <a:ext cx="7132320" cy="182880"/>
          </a:xfrm>
          <a:prstGeom prst="rect">
            <a:avLst/>
          </a:prstGeom>
          <a:noFill/>
        </p:spPr>
        <p:txBody>
          <a:bodyPr wrap="square">
            <a:spAutoFit/>
          </a:bodyPr>
          <a:lstStyle/>
          <a:p>
            <a:r>
              <a:rPr sz="700" b="0">
                <a:solidFill>
                  <a:srgbClr val="B9CACF"/>
                </a:solidFill>
                <a:latin typeface="Aptos"/>
              </a:rPr>
              <a:t>KTV | Game House | Beauty | Pet Cafe | Sea-View Live House | Blindbox Rewards</a:t>
            </a:r>
          </a:p>
        </p:txBody>
      </p:sp>
      <p:sp>
        <p:nvSpPr>
          <p:cNvPr id="23" name="TextBox 22"/>
          <p:cNvSpPr txBox="1"/>
          <p:nvPr/>
        </p:nvSpPr>
        <p:spPr>
          <a:xfrm>
            <a:off x="7680960" y="6291072"/>
            <a:ext cx="3977639" cy="310896"/>
          </a:xfrm>
          <a:prstGeom prst="rect">
            <a:avLst/>
          </a:prstGeom>
          <a:noFill/>
        </p:spPr>
        <p:txBody>
          <a:bodyPr wrap="square">
            <a:spAutoFit/>
          </a:bodyPr>
          <a:lstStyle/>
          <a:p>
            <a:pPr algn="r"/>
            <a:r>
              <a:rPr sz="600" b="0">
                <a:solidFill>
                  <a:srgbClr val="B9CACF"/>
                </a:solidFill>
                <a:latin typeface="Aptos"/>
              </a:rPr>
              <a:t>ROI target, not guaranteed return.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