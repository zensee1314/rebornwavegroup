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57276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"/>
              </a:rPr>
              <a:t>Reborn Wave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59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D477"/>
                </a:solidFill>
                <a:latin typeface="Aptos"/>
              </a:rPr>
              <a:t>5-Level Batam Activity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ACF"/>
                </a:solidFill>
                <a:latin typeface="Aptos"/>
              </a:rPr>
              <a:t>Operator-Investor Opportunity: 2 Years $0 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7307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Business owners fund renovation and operations, then keep 70% of monthly net profit.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042415"/>
            <a:ext cx="4069080" cy="2331720"/>
          </a:xfrm>
          <a:prstGeom prst="rect">
            <a:avLst/>
          </a:prstGeom>
        </p:spPr>
      </p:pic>
      <p:pic>
        <p:nvPicPr>
          <p:cNvPr id="13" name="Picture 12" descr="doluruu-female-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090672"/>
            <a:ext cx="1325880" cy="1325880"/>
          </a:xfrm>
          <a:prstGeom prst="rect">
            <a:avLst/>
          </a:prstGeom>
        </p:spPr>
      </p:pic>
      <p:pic>
        <p:nvPicPr>
          <p:cNvPr id="14" name="Picture 13" descr="Doluruu Boy_17496645453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3063240"/>
            <a:ext cx="1207008" cy="12070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4848" y="5029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D477"/>
                </a:solidFill>
                <a:latin typeface="Aptos"/>
              </a:rPr>
              <a:t>75 sqm per unit | IDR main + SGD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Tourism, family, nightlife, beauty, KTV, pet cafe, and events in one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One 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A five-level Batam club where tourists, families, groups, and nightlife guests can stay longer and spend across multiple activities.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Partner-Led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Operators bring capital and operating expertise while Reborn Wave provides space, brand, traffic, website, social media, and shared customer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Cross-Traffic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KTV, kids play, beauty, pet cafe, and live events feed each other through packages, birthdays, competitions, and social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Operator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A lower-rent-risk path for business owners to operate inside a ready destination.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$0 rent for 24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gets two years rent-free from opening or handover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Operator funds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Renovation, equipment, staff, stock, licenses, utilities, and operations are covered by the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70/30 monthly profit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Monthly net operating profit is split 70% to operator and 30% to Reborn Wave Group.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Transparent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Sales run through shared POS or audited monthly report; cash sales must be recorded daily.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Floor + Unit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Updated area assumption: 75 sqm per unit.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1FA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5448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Kids Fun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6362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6362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8483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762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1FB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5798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KTV Lounge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67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1671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671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8833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7977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2FA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76148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77063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706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7063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91840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2FB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3649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Private KTV Rooms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37413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3741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741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95344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86783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3FA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96849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977639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977639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97763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9884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59028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D477"/>
                </a:solidFill>
                <a:latin typeface="Aptos"/>
              </a:rPr>
              <a:t>3FB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5720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VIP KTV Rooms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5811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45811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58114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10235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9379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ptos"/>
              </a:rPr>
              <a:t>4F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17550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Pet Cafe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1846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518464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18464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70585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7972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Aptos"/>
              </a:rPr>
              <a:t>5F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779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Live 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578815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57881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78815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Budget + ROI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Balanced base-case projections. Operator annual ROI is based on 70% profit share.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37744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286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417320"/>
            <a:ext cx="15087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508760"/>
            <a:ext cx="14173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Setup IDR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123444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1143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Setup 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417320"/>
            <a:ext cx="16002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508760"/>
            <a:ext cx="1508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Monthly 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417320"/>
            <a:ext cx="17373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508760"/>
            <a:ext cx="16459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Operator Annual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417320"/>
            <a:ext cx="8229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508760"/>
            <a:ext cx="7315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810512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92024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810512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1920240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Rp875M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810512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920240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S$63K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1810512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192024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810512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920240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Rp378M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810512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43%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286000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395728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2286000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2395728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Rp1.75B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286000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39572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S$126K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2286000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239572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Rp95M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286000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2395728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Rp798M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286000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239572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46%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61488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87121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2761488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2871216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2761488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287121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S$56K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2761488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287121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Rp50M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2761488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2871216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Rp420M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2761488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2871216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54%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236976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346704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3236976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0" y="3346704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Rp1.9B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236976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3346704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S$137K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3236976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0" y="3346704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Rp115M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3236976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9480" y="3346704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Rp966M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3236976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06840" y="334670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51%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712464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822192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360" y="3712464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26080" y="3822192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3712464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34840" y="382219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S$56K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23560" y="3712464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0" y="3822192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Rp55M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3712464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69480" y="3822192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Rp462M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61120" y="3712464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06840" y="3822192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60%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187952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29768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80360" y="4187952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26080" y="4297680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Rp2.15B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89120" y="4187952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34840" y="4297680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S$155K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23560" y="4187952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0" y="429768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Rp130M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23760" y="4187952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4297680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Rp1.092B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4187952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06840" y="42976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8D477"/>
                </a:solidFill>
                <a:latin typeface="Aptos"/>
              </a:rPr>
              <a:t>51%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663440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773168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80360" y="4663440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26080" y="4773168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Rp2.5B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9120" y="4663440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34840" y="477316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S$180K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23560" y="4663440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0" y="477316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Rp120M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4663440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69480" y="4773168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Rp1.008B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4663440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6840" y="477316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4D399"/>
                </a:solidFill>
                <a:latin typeface="Aptos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5138928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524865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80360" y="5138928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26080" y="5248656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Rp3.6B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89120" y="5138928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34840" y="524865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S$259K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5138928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0" y="524865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Rp200M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23760" y="5138928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9480" y="5248656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Rp1.68B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61120" y="5138928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06840" y="5248656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Aptos"/>
              </a:rPr>
              <a:t>47%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4360" y="58978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Exchange assumption: SGD 1 approx. IDR 13,900.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Rp875M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S$63K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Rp45M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Rp378M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43%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Rp140M
Operating costs: Rp95M
Net profit before split: Rp45M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43%.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S$126K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Rp95M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Rp798M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Rp300M
Operating costs: Rp205M
Net profit before split: Rp95M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46%.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Rp420M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54%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Rp135M
Operating costs: Rp85M
Net profit before split: Rp50M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54%.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Rp1.9B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S$137K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Rp966M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Rp350M
Operating costs: Rp235M
Net profit before split: Rp115M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51%.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Rp462M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Rp145M
Operating costs: Rp90M
Net profit before split: Rp55M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60%.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Rp2.15B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S$155K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Rp130M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Rp1.092B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Rp400M
Operating costs: Rp270M
Net profit before split: Rp130M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51%.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Rp2.5B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Rp1.008B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Rp450M
Operating costs: Rp330M
Net profit before split: Rp120M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40%.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Rp3.6B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S$259K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Rp200M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Rp1.68B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47%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Rp750M
Operating costs: Rp550M
Net profit before split: Rp200M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 receives 70% of net monthly profit.
Annual ROI projection: 47%.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Reborn Wave Revenue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Reborn receives 30% of each operator's monthly net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Rp255M/month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Reborn profit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Rp3.06B/year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Reborn profit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645920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55648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S$220K/year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057400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SGD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475488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108960"/>
            <a:ext cx="4425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the model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483864"/>
            <a:ext cx="442569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Operators carry setup and operating costs. Reborn monetizes location, brand, traffic, systems, and shared customer flow without charging rent during the first two years.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971800"/>
            <a:ext cx="434340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108960"/>
            <a:ext cx="4014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Portfolio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483864"/>
            <a:ext cx="40142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Multiple verticals reduce reliance on one business type: family traffic, beauty appointments, KTV bookings, pet cafe visits, and live events.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Marketing + Traffic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Create repeat reasons to visit, post, book, and bring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Singing competitions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Weekly competition content, finalists, voting, prize moments, and live audience energy.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Tourist + family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Bundled routes for kids fun house, KTV, pet cafe, beauty, and live house nights.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Birthday + private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Private KTV rooms, VIP hosting, live band packages, and table reservations.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Performance 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Live bands, dancers, creators, guest singers, and sea-view theme nights.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@reborn.wave.group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@rebornwavegroup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Risk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Protect operators, Reborn Wave, and the brand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54480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Shared POS /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29384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Monthly net profit can be verified from sales, costs, and cash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9572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Minimum operating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7063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Operators must keep the destination active and predictable for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9981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3697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Brand + safety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61188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Design, hygiene, service, customer safety, and noise rules protect the building.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4106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7822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Monthly performance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45312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Slow operators receive action plans before replacement rights are triggered.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8231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1947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Replacement 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9437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Inactive or non-performing operators can be replaced under contract terms.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Move from operator interest to signed launch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63039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1. Confirm operators by business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37943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Match each operator to the right floor zone and budget requirement.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6712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0428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2. Sign LOI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919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Lock intent, contribution scope, timeline, reporting rules, and 70/30 split principles.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4553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3. Finalize renovation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2044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Confirm design, cost, contractor timeline, equipment list, and opening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8678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4. Open pilot marketing 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36168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Use TikTok, Instagram, WhatsApp, creators, hotel partners, and event previews.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9087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2803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5. Launch by floor /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0293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Open staged areas as operators finish buildout, training, and systems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ROI projections are estimates, not guaranteed returns. Figures require review by qualified legal, tax, and accounting professionals before operator contracts are signed.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