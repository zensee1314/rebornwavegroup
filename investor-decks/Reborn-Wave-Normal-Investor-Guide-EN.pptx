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646920" y="-182880"/>
            <a:ext cx="2194560" cy="7223760"/>
          </a:xfrm>
          <a:prstGeom prst="rect">
            <a:avLst/>
          </a:prstGeom>
          <a:solidFill>
            <a:srgbClr val="08373D"/>
          </a:solidFill>
          <a:ln>
            <a:solidFill>
              <a:srgbClr val="083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12480" y="411480"/>
            <a:ext cx="2103120" cy="2103120"/>
          </a:xfrm>
          <a:prstGeom prst="ellipse">
            <a:avLst/>
          </a:prstGeom>
          <a:solidFill>
            <a:srgbClr val="22D3E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15400" y="1325880"/>
            <a:ext cx="2103120" cy="2103120"/>
          </a:xfrm>
          <a:prstGeom prst="ellipse">
            <a:avLst/>
          </a:prstGeom>
          <a:solidFill>
            <a:srgbClr val="F8D477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18319" y="2240280"/>
            <a:ext cx="2103120" cy="2103120"/>
          </a:xfrm>
          <a:prstGeom prst="ellipse">
            <a:avLst/>
          </a:prstGeom>
          <a:solidFill>
            <a:srgbClr val="34D39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w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84048"/>
            <a:ext cx="1078992" cy="10789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508760"/>
            <a:ext cx="5669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Aptos"/>
              </a:rPr>
              <a:t>Reborn Wave Group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2322576"/>
            <a:ext cx="5806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F8D477"/>
                </a:solidFill>
                <a:latin typeface="Aptos"/>
              </a:rPr>
              <a:t>Normal Investor Account + Investment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2971800"/>
            <a:ext cx="5440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FFFFFF"/>
                </a:solidFill>
                <a:latin typeface="Aptos"/>
              </a:rPr>
              <a:t>How to set up an account, choose a business zone, invest part by part, and track returns through the investor portal.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46520" y="822960"/>
            <a:ext cx="4709160" cy="5120640"/>
          </a:xfrm>
          <a:prstGeom prst="roundRect">
            <a:avLst/>
          </a:prstGeom>
          <a:solidFill>
            <a:srgbClr val="0D3A41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_17645589010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8272" y="1060704"/>
            <a:ext cx="4069080" cy="2212848"/>
          </a:xfrm>
          <a:prstGeom prst="rect">
            <a:avLst/>
          </a:prstGeom>
        </p:spPr>
      </p:pic>
      <p:pic>
        <p:nvPicPr>
          <p:cNvPr id="12" name="Picture 11" descr="doluruu-blindbox-box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0" y="3547872"/>
            <a:ext cx="1920240" cy="1115568"/>
          </a:xfrm>
          <a:prstGeom prst="rect">
            <a:avLst/>
          </a:prstGeom>
        </p:spPr>
      </p:pic>
      <p:pic>
        <p:nvPicPr>
          <p:cNvPr id="13" name="Picture 12" descr="doluruu-female-transpar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0" y="3291840"/>
            <a:ext cx="1024128" cy="10241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784848" y="5074920"/>
            <a:ext cx="4069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8D477"/>
                </a:solidFill>
                <a:latin typeface="Aptos"/>
              </a:rPr>
              <a:t>Investor portal: rebornwave.group/investor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46520"/>
            <a:ext cx="6492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 b="0">
                <a:solidFill>
                  <a:srgbClr val="B9CACF"/>
                </a:solidFill>
                <a:latin typeface="Aptos"/>
              </a:rPr>
              <a:t>Reborn Wave Group | Normal Investor Guide | SGD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6355080"/>
            <a:ext cx="3931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00" b="0">
                <a:solidFill>
                  <a:srgbClr val="B9CACF"/>
                </a:solidFill>
                <a:latin typeface="Aptos"/>
              </a:rPr>
              <a:t>Projected returns only, not guaranteed.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646920" y="-182880"/>
            <a:ext cx="2194560" cy="7223760"/>
          </a:xfrm>
          <a:prstGeom prst="rect">
            <a:avLst/>
          </a:prstGeom>
          <a:solidFill>
            <a:srgbClr val="08373D"/>
          </a:solidFill>
          <a:ln>
            <a:solidFill>
              <a:srgbClr val="083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12480" y="411480"/>
            <a:ext cx="2103120" cy="2103120"/>
          </a:xfrm>
          <a:prstGeom prst="ellipse">
            <a:avLst/>
          </a:prstGeom>
          <a:solidFill>
            <a:srgbClr val="22D3E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15400" y="1325880"/>
            <a:ext cx="2103120" cy="2103120"/>
          </a:xfrm>
          <a:prstGeom prst="ellipse">
            <a:avLst/>
          </a:prstGeom>
          <a:solidFill>
            <a:srgbClr val="F8D477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18319" y="2240280"/>
            <a:ext cx="2103120" cy="2103120"/>
          </a:xfrm>
          <a:prstGeom prst="ellipse">
            <a:avLst/>
          </a:prstGeom>
          <a:solidFill>
            <a:srgbClr val="34D39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28600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9CACF"/>
                </a:solidFill>
                <a:latin typeface="Aptos"/>
              </a:rPr>
              <a:t>REBORN WAVE GROUP | NORMAL INVESTOR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66928"/>
            <a:ext cx="85953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Aptos"/>
              </a:rPr>
              <a:t>What The Investment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17043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B9CACF"/>
                </a:solidFill>
                <a:latin typeface="Aptos"/>
              </a:rPr>
              <a:t>A normal investor joins selected Reborn Wave business zones and tracks the investment through the portal.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664208"/>
            <a:ext cx="3246120" cy="1335024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792224"/>
            <a:ext cx="2916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D3EE"/>
                </a:solidFill>
                <a:latin typeface="Aptos"/>
              </a:rPr>
              <a:t>Business-backed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157984"/>
            <a:ext cx="291693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B9CACF"/>
                </a:solidFill>
                <a:latin typeface="Aptos"/>
              </a:rPr>
              <a:t>Investor funds are linked to real club business zones: KTV, beauty, kids fun house, pet cafe, and live house.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60520" y="1664208"/>
            <a:ext cx="3246120" cy="1335024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5112" y="1792224"/>
            <a:ext cx="2916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8D477"/>
                </a:solidFill>
                <a:latin typeface="Aptos"/>
              </a:rPr>
              <a:t>70/30 profit model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5112" y="2157984"/>
            <a:ext cx="291693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B9CACF"/>
                </a:solidFill>
                <a:latin typeface="Aptos"/>
              </a:rPr>
              <a:t>Monthly net profit is split 70% to the operator/investor side and 30% to Reborn Wave Group.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62672" y="1664208"/>
            <a:ext cx="3246120" cy="1335024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27264" y="1792224"/>
            <a:ext cx="2916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4D399"/>
                </a:solidFill>
                <a:latin typeface="Aptos"/>
              </a:rPr>
              <a:t>6-month target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27264" y="2157984"/>
            <a:ext cx="291693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B9CACF"/>
                </a:solidFill>
                <a:latin typeface="Aptos"/>
              </a:rPr>
              <a:t>Base case targets setup capital recovery in 6 months. Month 7 onward is projected profit.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0120" y="3657600"/>
            <a:ext cx="2011680" cy="713232"/>
          </a:xfrm>
          <a:prstGeom prst="roundRect">
            <a:avLst/>
          </a:prstGeom>
          <a:solidFill>
            <a:srgbClr val="07272D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9848" y="3767328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2D3EE"/>
                </a:solidFill>
                <a:latin typeface="Aptos"/>
              </a:rPr>
              <a:t>SGD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" y="4069080"/>
            <a:ext cx="179222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B9CACF"/>
                </a:solidFill>
                <a:latin typeface="Aptos"/>
              </a:rPr>
              <a:t>Currency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46120" y="3657600"/>
            <a:ext cx="2011680" cy="713232"/>
          </a:xfrm>
          <a:prstGeom prst="roundRect">
            <a:avLst/>
          </a:prstGeom>
          <a:solidFill>
            <a:srgbClr val="07272D"/>
          </a:solidFill>
          <a:ln>
            <a:solidFill>
              <a:srgbClr val="F8D4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55848" y="3767328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8D477"/>
                </a:solidFill>
                <a:latin typeface="Aptos"/>
              </a:rPr>
              <a:t>$0 rent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55848" y="4069080"/>
            <a:ext cx="179222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B9CACF"/>
                </a:solidFill>
                <a:latin typeface="Aptos"/>
              </a:rPr>
              <a:t>Rental support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32120" y="3657600"/>
            <a:ext cx="2011680" cy="713232"/>
          </a:xfrm>
          <a:prstGeom prst="roundRect">
            <a:avLst/>
          </a:prstGeom>
          <a:solidFill>
            <a:srgbClr val="07272D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41848" y="3767328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34D399"/>
                </a:solidFill>
                <a:latin typeface="Aptos"/>
              </a:rPr>
              <a:t>24 months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41848" y="4069080"/>
            <a:ext cx="179222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B9CACF"/>
                </a:solidFill>
                <a:latin typeface="Aptos"/>
              </a:rPr>
              <a:t>Rent-free period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818120" y="3657600"/>
            <a:ext cx="2011680" cy="713232"/>
          </a:xfrm>
          <a:prstGeom prst="roundRect">
            <a:avLst/>
          </a:prstGeom>
          <a:solidFill>
            <a:srgbClr val="07272D"/>
          </a:solidFill>
          <a:ln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27848" y="3767328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472B6"/>
                </a:solidFill>
                <a:latin typeface="Aptos"/>
              </a:rPr>
              <a:t>75 sqm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27848" y="4069080"/>
            <a:ext cx="179222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B9CACF"/>
                </a:solidFill>
                <a:latin typeface="Aptos"/>
              </a:rPr>
              <a:t>Unit size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60120" y="4882896"/>
            <a:ext cx="8869680" cy="676656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24712" y="5010912"/>
            <a:ext cx="85404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A78BFA"/>
                </a:solidFill>
                <a:latin typeface="Aptos"/>
              </a:rPr>
              <a:t>Investor reminder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4712" y="5376672"/>
            <a:ext cx="8540496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Aptos"/>
              </a:rPr>
              <a:t>Returns depend on actual sales, costs, reporting accuracy, and business performance. The numbers are projections, not promises.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446520"/>
            <a:ext cx="6492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 b="0">
                <a:solidFill>
                  <a:srgbClr val="B9CACF"/>
                </a:solidFill>
                <a:latin typeface="Aptos"/>
              </a:rPr>
              <a:t>Reborn Wave Group | Normal Investor Guide | SGD model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9520" y="6355080"/>
            <a:ext cx="3931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00" b="0">
                <a:solidFill>
                  <a:srgbClr val="B9CACF"/>
                </a:solidFill>
                <a:latin typeface="Aptos"/>
              </a:rPr>
              <a:t>Projected returns only, not guaranteed.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646920" y="-182880"/>
            <a:ext cx="2194560" cy="7223760"/>
          </a:xfrm>
          <a:prstGeom prst="rect">
            <a:avLst/>
          </a:prstGeom>
          <a:solidFill>
            <a:srgbClr val="08373D"/>
          </a:solidFill>
          <a:ln>
            <a:solidFill>
              <a:srgbClr val="083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12480" y="411480"/>
            <a:ext cx="2103120" cy="2103120"/>
          </a:xfrm>
          <a:prstGeom prst="ellipse">
            <a:avLst/>
          </a:prstGeom>
          <a:solidFill>
            <a:srgbClr val="22D3E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15400" y="1325880"/>
            <a:ext cx="2103120" cy="2103120"/>
          </a:xfrm>
          <a:prstGeom prst="ellipse">
            <a:avLst/>
          </a:prstGeom>
          <a:solidFill>
            <a:srgbClr val="F8D477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18319" y="2240280"/>
            <a:ext cx="2103120" cy="2103120"/>
          </a:xfrm>
          <a:prstGeom prst="ellipse">
            <a:avLst/>
          </a:prstGeom>
          <a:solidFill>
            <a:srgbClr val="34D39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28600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9CACF"/>
                </a:solidFill>
                <a:latin typeface="Aptos"/>
              </a:rPr>
              <a:t>REBORN WAVE GROUP | NORMAL INVESTOR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66928"/>
            <a:ext cx="85953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Aptos"/>
              </a:rPr>
              <a:t>How To Set Up An Account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17043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B9CACF"/>
                </a:solidFill>
                <a:latin typeface="Aptos"/>
              </a:rPr>
              <a:t>The portal keeps investor registration, dashboard access, wallet records, and investment tracking separate from normal club members.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645920"/>
            <a:ext cx="4983480" cy="1207008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773936"/>
            <a:ext cx="4654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D3EE"/>
                </a:solidFill>
                <a:latin typeface="Aptos"/>
              </a:rPr>
              <a:t>1. Open portal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139696"/>
            <a:ext cx="465429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B9CACF"/>
                </a:solidFill>
                <a:latin typeface="Aptos"/>
              </a:rPr>
              <a:t>Go to rebornwave.group/investor and choose Investor Login.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99048" y="1645920"/>
            <a:ext cx="4983480" cy="1207008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1773936"/>
            <a:ext cx="4654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8D477"/>
                </a:solidFill>
                <a:latin typeface="Aptos"/>
              </a:rPr>
              <a:t>2. Register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2139696"/>
            <a:ext cx="465429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B9CACF"/>
                </a:solidFill>
                <a:latin typeface="Aptos"/>
              </a:rPr>
              <a:t>Create account with name, email, password, and referral code if someone invited you.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310128"/>
            <a:ext cx="4983480" cy="1207008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59" y="3438144"/>
            <a:ext cx="4654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4D399"/>
                </a:solidFill>
                <a:latin typeface="Aptos"/>
              </a:rPr>
              <a:t>3. Verify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" y="3803904"/>
            <a:ext cx="465429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B9CACF"/>
                </a:solidFill>
                <a:latin typeface="Aptos"/>
              </a:rPr>
              <a:t>Reborn Wave admin confirms your identity, contact details, and investment agreement before activation.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99048" y="3310128"/>
            <a:ext cx="4983480" cy="1207008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3640" y="3438144"/>
            <a:ext cx="4654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472B6"/>
                </a:solidFill>
                <a:latin typeface="Aptos"/>
              </a:rPr>
              <a:t>4. Dashboard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3803904"/>
            <a:ext cx="465429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B9CACF"/>
                </a:solidFill>
                <a:latin typeface="Aptos"/>
              </a:rPr>
              <a:t>After login, investors see packages, zones, wallet activity, tokens, QR spending, and payout status.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5138928"/>
            <a:ext cx="10424160" cy="658368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59" y="5266944"/>
            <a:ext cx="100949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A78BFA"/>
                </a:solidFill>
                <a:latin typeface="Aptos"/>
              </a:rPr>
              <a:t>Account links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59" y="5632704"/>
            <a:ext cx="10094976" cy="91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Aptos"/>
              </a:rPr>
              <a:t>Investor home: rebornwave.group/investor   |   Login/Register: rebornwave.group/investor/login   |   Dashboard: rebornwave.group/investor/dashboard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46520"/>
            <a:ext cx="6492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 b="0">
                <a:solidFill>
                  <a:srgbClr val="B9CACF"/>
                </a:solidFill>
                <a:latin typeface="Aptos"/>
              </a:rPr>
              <a:t>Reborn Wave Group | Normal Investor Guide | SGD model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6355080"/>
            <a:ext cx="3931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00" b="0">
                <a:solidFill>
                  <a:srgbClr val="B9CACF"/>
                </a:solidFill>
                <a:latin typeface="Aptos"/>
              </a:rPr>
              <a:t>Projected returns only, not guaranteed.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646920" y="-182880"/>
            <a:ext cx="2194560" cy="7223760"/>
          </a:xfrm>
          <a:prstGeom prst="rect">
            <a:avLst/>
          </a:prstGeom>
          <a:solidFill>
            <a:srgbClr val="08373D"/>
          </a:solidFill>
          <a:ln>
            <a:solidFill>
              <a:srgbClr val="083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12480" y="411480"/>
            <a:ext cx="2103120" cy="2103120"/>
          </a:xfrm>
          <a:prstGeom prst="ellipse">
            <a:avLst/>
          </a:prstGeom>
          <a:solidFill>
            <a:srgbClr val="22D3E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15400" y="1325880"/>
            <a:ext cx="2103120" cy="2103120"/>
          </a:xfrm>
          <a:prstGeom prst="ellipse">
            <a:avLst/>
          </a:prstGeom>
          <a:solidFill>
            <a:srgbClr val="F8D477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18319" y="2240280"/>
            <a:ext cx="2103120" cy="2103120"/>
          </a:xfrm>
          <a:prstGeom prst="ellipse">
            <a:avLst/>
          </a:prstGeom>
          <a:solidFill>
            <a:srgbClr val="34D39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28600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9CACF"/>
                </a:solidFill>
                <a:latin typeface="Aptos"/>
              </a:rPr>
              <a:t>REBORN WAVE GROUP | NORMAL INVESTOR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66928"/>
            <a:ext cx="85953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Aptos"/>
              </a:rPr>
              <a:t>How To Invest Step By Step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17043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B9CACF"/>
                </a:solidFill>
                <a:latin typeface="Aptos"/>
              </a:rPr>
              <a:t>A clear flow from interest to active investment.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600200"/>
            <a:ext cx="3246120" cy="1170432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728216"/>
            <a:ext cx="2916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D3EE"/>
                </a:solidFill>
                <a:latin typeface="Aptos"/>
              </a:rPr>
              <a:t>1. Choose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093976"/>
            <a:ext cx="2916936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Aptos"/>
              </a:rPr>
              <a:t>Select the business zone you want to join.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1688" y="1600200"/>
            <a:ext cx="3246120" cy="1170432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79" y="1728216"/>
            <a:ext cx="2916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8D477"/>
                </a:solidFill>
                <a:latin typeface="Aptos"/>
              </a:rPr>
              <a:t>2.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79" y="2093976"/>
            <a:ext cx="2916936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Aptos"/>
              </a:rPr>
              <a:t>Check setup capital, monthly net projection, payback target, and risk note.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8" y="1600200"/>
            <a:ext cx="3246120" cy="1170432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1728216"/>
            <a:ext cx="2916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4D399"/>
                </a:solidFill>
                <a:latin typeface="Aptos"/>
              </a:rPr>
              <a:t>3. Allocate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093976"/>
            <a:ext cx="2916936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Aptos"/>
              </a:rPr>
              <a:t>Choose full-zone or partial participation agreed with Reborn Wave.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3227832"/>
            <a:ext cx="3246120" cy="1170432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3355848"/>
            <a:ext cx="2916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472B6"/>
                </a:solidFill>
                <a:latin typeface="Aptos"/>
              </a:rPr>
              <a:t>4. Sign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3721608"/>
            <a:ext cx="2916936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Aptos"/>
              </a:rPr>
              <a:t>Sign agreement covering amount, term, reporting, payout, and exit rules.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61688" y="3227832"/>
            <a:ext cx="3246120" cy="1170432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26279" y="3355848"/>
            <a:ext cx="2916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A78BFA"/>
                </a:solidFill>
                <a:latin typeface="Aptos"/>
              </a:rPr>
              <a:t>5. Pay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79" y="3721608"/>
            <a:ext cx="2916936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Aptos"/>
              </a:rPr>
              <a:t>Submit payment proof and wait for admin confirmation.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65008" y="3227832"/>
            <a:ext cx="3246120" cy="1170432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3355848"/>
            <a:ext cx="2916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D3EE"/>
                </a:solidFill>
                <a:latin typeface="Aptos"/>
              </a:rPr>
              <a:t>6. Track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3721608"/>
            <a:ext cx="2916936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Aptos"/>
              </a:rPr>
              <a:t>Watch monthly reports, payouts, spending wallet, and token activity.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5084064"/>
            <a:ext cx="10287000" cy="713232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59" y="5212079"/>
            <a:ext cx="99578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8D477"/>
                </a:solidFill>
                <a:latin typeface="Aptos"/>
              </a:rPr>
              <a:t>Simple explanation for investors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59" y="5577840"/>
            <a:ext cx="99578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Aptos"/>
              </a:rPr>
              <a:t>You do not need to fund the whole building. You can start with one selected zone, then add more zones after performance and reporting are proven.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46520"/>
            <a:ext cx="6492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 b="0">
                <a:solidFill>
                  <a:srgbClr val="B9CACF"/>
                </a:solidFill>
                <a:latin typeface="Aptos"/>
              </a:rPr>
              <a:t>Reborn Wave Group | Normal Investor Guide | SGD model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89520" y="6355080"/>
            <a:ext cx="3931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00" b="0">
                <a:solidFill>
                  <a:srgbClr val="B9CACF"/>
                </a:solidFill>
                <a:latin typeface="Aptos"/>
              </a:rPr>
              <a:t>Projected returns only, not guaranteed.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646920" y="-182880"/>
            <a:ext cx="2194560" cy="7223760"/>
          </a:xfrm>
          <a:prstGeom prst="rect">
            <a:avLst/>
          </a:prstGeom>
          <a:solidFill>
            <a:srgbClr val="08373D"/>
          </a:solidFill>
          <a:ln>
            <a:solidFill>
              <a:srgbClr val="083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12480" y="411480"/>
            <a:ext cx="2103120" cy="2103120"/>
          </a:xfrm>
          <a:prstGeom prst="ellipse">
            <a:avLst/>
          </a:prstGeom>
          <a:solidFill>
            <a:srgbClr val="22D3E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15400" y="1325880"/>
            <a:ext cx="2103120" cy="2103120"/>
          </a:xfrm>
          <a:prstGeom prst="ellipse">
            <a:avLst/>
          </a:prstGeom>
          <a:solidFill>
            <a:srgbClr val="F8D477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18319" y="2240280"/>
            <a:ext cx="2103120" cy="2103120"/>
          </a:xfrm>
          <a:prstGeom prst="ellipse">
            <a:avLst/>
          </a:prstGeom>
          <a:solidFill>
            <a:srgbClr val="34D39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28600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9CACF"/>
                </a:solidFill>
                <a:latin typeface="Aptos"/>
              </a:rPr>
              <a:t>REBORN WAVE GROUP | NORMAL INVESTOR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66928"/>
            <a:ext cx="85953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Aptos"/>
              </a:rPr>
              <a:t>Part-By-Part Investment Options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17043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B9CACF"/>
                </a:solidFill>
                <a:latin typeface="Aptos"/>
              </a:rPr>
              <a:t>Investors can compare business zones by floor, setup capital, and customer engine.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444752"/>
            <a:ext cx="731520" cy="384048"/>
          </a:xfrm>
          <a:prstGeom prst="rect">
            <a:avLst/>
          </a:prstGeom>
          <a:solidFill>
            <a:srgbClr val="083D4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536192"/>
            <a:ext cx="64008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Aptos"/>
              </a:rPr>
              <a:t>Zone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1444752"/>
            <a:ext cx="2240280" cy="384048"/>
          </a:xfrm>
          <a:prstGeom prst="rect">
            <a:avLst/>
          </a:prstGeom>
          <a:solidFill>
            <a:srgbClr val="083D4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17320" y="1536192"/>
            <a:ext cx="214884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Aptos"/>
              </a:rPr>
              <a:t>Business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11880" y="1444752"/>
            <a:ext cx="1234440" cy="384048"/>
          </a:xfrm>
          <a:prstGeom prst="rect">
            <a:avLst/>
          </a:prstGeom>
          <a:solidFill>
            <a:srgbClr val="083D4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0" y="1536192"/>
            <a:ext cx="11430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Aptos"/>
              </a:rPr>
              <a:t>Setup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1444752"/>
            <a:ext cx="6080760" cy="384048"/>
          </a:xfrm>
          <a:prstGeom prst="rect">
            <a:avLst/>
          </a:prstGeom>
          <a:solidFill>
            <a:srgbClr val="083D4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92040" y="1536192"/>
            <a:ext cx="59893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Aptos"/>
              </a:rPr>
              <a:t>Why customers come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1856232"/>
            <a:ext cx="731520" cy="457200"/>
          </a:xfrm>
          <a:prstGeom prst="rect">
            <a:avLst/>
          </a:prstGeom>
          <a:solidFill>
            <a:srgbClr val="07272D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1965960"/>
            <a:ext cx="6400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Aptos"/>
              </a:rPr>
              <a:t>1FA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71600" y="1856232"/>
            <a:ext cx="2240280" cy="457200"/>
          </a:xfrm>
          <a:prstGeom prst="rect">
            <a:avLst/>
          </a:prstGeom>
          <a:solidFill>
            <a:srgbClr val="07272D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17320" y="1965960"/>
            <a:ext cx="21488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Aptos"/>
              </a:rPr>
              <a:t>Kids Fun House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11880" y="1856232"/>
            <a:ext cx="1234440" cy="457200"/>
          </a:xfrm>
          <a:prstGeom prst="rect">
            <a:avLst/>
          </a:prstGeom>
          <a:solidFill>
            <a:srgbClr val="07272D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1965960"/>
            <a:ext cx="11430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8D477"/>
                </a:solidFill>
                <a:latin typeface="Aptos"/>
              </a:rPr>
              <a:t>S$63K setup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46320" y="1856232"/>
            <a:ext cx="6080760" cy="457200"/>
          </a:xfrm>
          <a:prstGeom prst="rect">
            <a:avLst/>
          </a:prstGeom>
          <a:solidFill>
            <a:srgbClr val="07272D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92040" y="1965960"/>
            <a:ext cx="59893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 b="0">
                <a:solidFill>
                  <a:srgbClr val="B9CACF"/>
                </a:solidFill>
                <a:latin typeface="Aptos"/>
              </a:rPr>
              <a:t>Family traffic, games, birthdays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2331720"/>
            <a:ext cx="731520" cy="457200"/>
          </a:xfrm>
          <a:prstGeom prst="rect">
            <a:avLst/>
          </a:prstGeom>
          <a:solidFill>
            <a:srgbClr val="093036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2441448"/>
            <a:ext cx="6400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Aptos"/>
              </a:rPr>
              <a:t>1FB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0" y="2331720"/>
            <a:ext cx="2240280" cy="457200"/>
          </a:xfrm>
          <a:prstGeom prst="rect">
            <a:avLst/>
          </a:prstGeom>
          <a:solidFill>
            <a:srgbClr val="093036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417320" y="2441448"/>
            <a:ext cx="21488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Aptos"/>
              </a:rPr>
              <a:t>KTV Lounge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11880" y="2331720"/>
            <a:ext cx="1234440" cy="457200"/>
          </a:xfrm>
          <a:prstGeom prst="rect">
            <a:avLst/>
          </a:prstGeom>
          <a:solidFill>
            <a:srgbClr val="093036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0" y="2441448"/>
            <a:ext cx="11430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8D477"/>
                </a:solidFill>
                <a:latin typeface="Aptos"/>
              </a:rPr>
              <a:t>S$126K setup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46320" y="2331720"/>
            <a:ext cx="6080760" cy="457200"/>
          </a:xfrm>
          <a:prstGeom prst="rect">
            <a:avLst/>
          </a:prstGeom>
          <a:solidFill>
            <a:srgbClr val="093036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92040" y="2441448"/>
            <a:ext cx="59893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 b="0">
                <a:solidFill>
                  <a:srgbClr val="B9CACF"/>
                </a:solidFill>
                <a:latin typeface="Aptos"/>
              </a:rPr>
              <a:t>Open singing and competitions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807208"/>
            <a:ext cx="731520" cy="457200"/>
          </a:xfrm>
          <a:prstGeom prst="rect">
            <a:avLst/>
          </a:prstGeom>
          <a:solidFill>
            <a:srgbClr val="07272D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2916936"/>
            <a:ext cx="6400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Aptos"/>
              </a:rPr>
              <a:t>2FA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0" y="2807208"/>
            <a:ext cx="2240280" cy="457200"/>
          </a:xfrm>
          <a:prstGeom prst="rect">
            <a:avLst/>
          </a:prstGeom>
          <a:solidFill>
            <a:srgbClr val="07272D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417320" y="2916936"/>
            <a:ext cx="21488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Aptos"/>
              </a:rPr>
              <a:t>Beauty Salon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11880" y="2807208"/>
            <a:ext cx="1234440" cy="457200"/>
          </a:xfrm>
          <a:prstGeom prst="rect">
            <a:avLst/>
          </a:prstGeom>
          <a:solidFill>
            <a:srgbClr val="07272D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0" y="2916936"/>
            <a:ext cx="11430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8D477"/>
                </a:solidFill>
                <a:latin typeface="Aptos"/>
              </a:rPr>
              <a:t>S$56K setup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846320" y="2807208"/>
            <a:ext cx="6080760" cy="457200"/>
          </a:xfrm>
          <a:prstGeom prst="rect">
            <a:avLst/>
          </a:prstGeom>
          <a:solidFill>
            <a:srgbClr val="07272D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92040" y="2916936"/>
            <a:ext cx="59893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 b="0">
                <a:solidFill>
                  <a:srgbClr val="B9CACF"/>
                </a:solidFill>
                <a:latin typeface="Aptos"/>
              </a:rPr>
              <a:t>Beauty appointments and event prep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3282696"/>
            <a:ext cx="731520" cy="457200"/>
          </a:xfrm>
          <a:prstGeom prst="rect">
            <a:avLst/>
          </a:prstGeom>
          <a:solidFill>
            <a:srgbClr val="093036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3392424"/>
            <a:ext cx="6400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Aptos"/>
              </a:rPr>
              <a:t>2FB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0" y="3282696"/>
            <a:ext cx="2240280" cy="457200"/>
          </a:xfrm>
          <a:prstGeom prst="rect">
            <a:avLst/>
          </a:prstGeom>
          <a:solidFill>
            <a:srgbClr val="093036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417320" y="3392424"/>
            <a:ext cx="21488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Aptos"/>
              </a:rPr>
              <a:t>Private KTV Rooms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11880" y="3282696"/>
            <a:ext cx="1234440" cy="457200"/>
          </a:xfrm>
          <a:prstGeom prst="rect">
            <a:avLst/>
          </a:prstGeom>
          <a:solidFill>
            <a:srgbClr val="093036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0" y="3392424"/>
            <a:ext cx="11430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8D477"/>
                </a:solidFill>
                <a:latin typeface="Aptos"/>
              </a:rPr>
              <a:t>S$137K setup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846320" y="3282696"/>
            <a:ext cx="6080760" cy="457200"/>
          </a:xfrm>
          <a:prstGeom prst="rect">
            <a:avLst/>
          </a:prstGeom>
          <a:solidFill>
            <a:srgbClr val="093036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892040" y="3392424"/>
            <a:ext cx="59893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 b="0">
                <a:solidFill>
                  <a:srgbClr val="B9CACF"/>
                </a:solidFill>
                <a:latin typeface="Aptos"/>
              </a:rPr>
              <a:t>Four private rooms for groups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0080" y="3758184"/>
            <a:ext cx="731520" cy="457200"/>
          </a:xfrm>
          <a:prstGeom prst="rect">
            <a:avLst/>
          </a:prstGeom>
          <a:solidFill>
            <a:srgbClr val="07272D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85800" y="3867912"/>
            <a:ext cx="6400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Aptos"/>
              </a:rPr>
              <a:t>3FA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0" y="3758184"/>
            <a:ext cx="2240280" cy="457200"/>
          </a:xfrm>
          <a:prstGeom prst="rect">
            <a:avLst/>
          </a:prstGeom>
          <a:solidFill>
            <a:srgbClr val="07272D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417320" y="3867912"/>
            <a:ext cx="21488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Aptos"/>
              </a:rPr>
              <a:t>Beauty Salon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11880" y="3758184"/>
            <a:ext cx="1234440" cy="457200"/>
          </a:xfrm>
          <a:prstGeom prst="rect">
            <a:avLst/>
          </a:prstGeom>
          <a:solidFill>
            <a:srgbClr val="07272D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0" y="3867912"/>
            <a:ext cx="11430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8D477"/>
                </a:solidFill>
                <a:latin typeface="Aptos"/>
              </a:rPr>
              <a:t>S$56K setup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46320" y="3758184"/>
            <a:ext cx="6080760" cy="457200"/>
          </a:xfrm>
          <a:prstGeom prst="rect">
            <a:avLst/>
          </a:prstGeom>
          <a:solidFill>
            <a:srgbClr val="07272D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892040" y="3867912"/>
            <a:ext cx="59893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 b="0">
                <a:solidFill>
                  <a:srgbClr val="B9CACF"/>
                </a:solidFill>
                <a:latin typeface="Aptos"/>
              </a:rPr>
              <a:t>Premium guest service add-on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0080" y="4233672"/>
            <a:ext cx="731520" cy="457200"/>
          </a:xfrm>
          <a:prstGeom prst="rect">
            <a:avLst/>
          </a:prstGeom>
          <a:solidFill>
            <a:srgbClr val="093036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85800" y="4343400"/>
            <a:ext cx="6400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Aptos"/>
              </a:rPr>
              <a:t>3FB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0" y="4233672"/>
            <a:ext cx="2240280" cy="457200"/>
          </a:xfrm>
          <a:prstGeom prst="rect">
            <a:avLst/>
          </a:prstGeom>
          <a:solidFill>
            <a:srgbClr val="093036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417320" y="4343400"/>
            <a:ext cx="21488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Aptos"/>
              </a:rPr>
              <a:t>VIP KTV Rooms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11880" y="4233672"/>
            <a:ext cx="1234440" cy="457200"/>
          </a:xfrm>
          <a:prstGeom prst="rect">
            <a:avLst/>
          </a:prstGeom>
          <a:solidFill>
            <a:srgbClr val="093036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0" y="4343400"/>
            <a:ext cx="11430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8D477"/>
                </a:solidFill>
                <a:latin typeface="Aptos"/>
              </a:rPr>
              <a:t>S$155K setup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846320" y="4233672"/>
            <a:ext cx="6080760" cy="457200"/>
          </a:xfrm>
          <a:prstGeom prst="rect">
            <a:avLst/>
          </a:prstGeom>
          <a:solidFill>
            <a:srgbClr val="093036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892040" y="4343400"/>
            <a:ext cx="59893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 b="0">
                <a:solidFill>
                  <a:srgbClr val="B9CACF"/>
                </a:solidFill>
                <a:latin typeface="Aptos"/>
              </a:rPr>
              <a:t>VIP hosting and higher spend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40080" y="4709160"/>
            <a:ext cx="731520" cy="457200"/>
          </a:xfrm>
          <a:prstGeom prst="rect">
            <a:avLst/>
          </a:prstGeom>
          <a:solidFill>
            <a:srgbClr val="07272D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85800" y="4818888"/>
            <a:ext cx="6400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Aptos"/>
              </a:rPr>
              <a:t>4F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0" y="4709160"/>
            <a:ext cx="2240280" cy="457200"/>
          </a:xfrm>
          <a:prstGeom prst="rect">
            <a:avLst/>
          </a:prstGeom>
          <a:solidFill>
            <a:srgbClr val="07272D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417320" y="4818888"/>
            <a:ext cx="21488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Aptos"/>
              </a:rPr>
              <a:t>Pet Cafe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611880" y="4709160"/>
            <a:ext cx="1234440" cy="457200"/>
          </a:xfrm>
          <a:prstGeom prst="rect">
            <a:avLst/>
          </a:prstGeom>
          <a:solidFill>
            <a:srgbClr val="07272D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657600" y="4818888"/>
            <a:ext cx="11430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8D477"/>
                </a:solidFill>
                <a:latin typeface="Aptos"/>
              </a:rPr>
              <a:t>S$180K setup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846320" y="4709160"/>
            <a:ext cx="6080760" cy="457200"/>
          </a:xfrm>
          <a:prstGeom prst="rect">
            <a:avLst/>
          </a:prstGeom>
          <a:solidFill>
            <a:srgbClr val="07272D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892040" y="4818888"/>
            <a:ext cx="59893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 b="0">
                <a:solidFill>
                  <a:srgbClr val="B9CACF"/>
                </a:solidFill>
                <a:latin typeface="Aptos"/>
              </a:rPr>
              <a:t>Family, pets, cafe, blindbox tie-in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40080" y="5184648"/>
            <a:ext cx="731520" cy="457200"/>
          </a:xfrm>
          <a:prstGeom prst="rect">
            <a:avLst/>
          </a:prstGeom>
          <a:solidFill>
            <a:srgbClr val="093036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85800" y="5294376"/>
            <a:ext cx="6400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Aptos"/>
              </a:rPr>
              <a:t>5F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0" y="5184648"/>
            <a:ext cx="2240280" cy="457200"/>
          </a:xfrm>
          <a:prstGeom prst="rect">
            <a:avLst/>
          </a:prstGeom>
          <a:solidFill>
            <a:srgbClr val="093036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417320" y="5294376"/>
            <a:ext cx="21488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Aptos"/>
              </a:rPr>
              <a:t>Live House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611880" y="5184648"/>
            <a:ext cx="1234440" cy="457200"/>
          </a:xfrm>
          <a:prstGeom prst="rect">
            <a:avLst/>
          </a:prstGeom>
          <a:solidFill>
            <a:srgbClr val="093036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657600" y="5294376"/>
            <a:ext cx="11430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8D477"/>
                </a:solidFill>
                <a:latin typeface="Aptos"/>
              </a:rPr>
              <a:t>S$259K setup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846320" y="5184648"/>
            <a:ext cx="6080760" cy="457200"/>
          </a:xfrm>
          <a:prstGeom prst="rect">
            <a:avLst/>
          </a:prstGeom>
          <a:solidFill>
            <a:srgbClr val="093036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892040" y="5294376"/>
            <a:ext cx="59893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 b="0">
                <a:solidFill>
                  <a:srgbClr val="B9CACF"/>
                </a:solidFill>
                <a:latin typeface="Aptos"/>
              </a:rPr>
              <a:t>Band, events, dance floor, sea view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5800" y="5870448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B9CACF"/>
                </a:solidFill>
                <a:latin typeface="Aptos"/>
              </a:rPr>
              <a:t>All setup figures are SGD base-case estimates. Partial participation depends on signed agreement and available allocation.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2920" y="6446520"/>
            <a:ext cx="6492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 b="0">
                <a:solidFill>
                  <a:srgbClr val="B9CACF"/>
                </a:solidFill>
                <a:latin typeface="Aptos"/>
              </a:rPr>
              <a:t>Reborn Wave Group | Normal Investor Guide | SGD model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589520" y="6355080"/>
            <a:ext cx="3931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00" b="0">
                <a:solidFill>
                  <a:srgbClr val="B9CACF"/>
                </a:solidFill>
                <a:latin typeface="Aptos"/>
              </a:rPr>
              <a:t>Projected returns only, not guaranteed.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646920" y="-182880"/>
            <a:ext cx="2194560" cy="7223760"/>
          </a:xfrm>
          <a:prstGeom prst="rect">
            <a:avLst/>
          </a:prstGeom>
          <a:solidFill>
            <a:srgbClr val="08373D"/>
          </a:solidFill>
          <a:ln>
            <a:solidFill>
              <a:srgbClr val="083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12480" y="411480"/>
            <a:ext cx="2103120" cy="2103120"/>
          </a:xfrm>
          <a:prstGeom prst="ellipse">
            <a:avLst/>
          </a:prstGeom>
          <a:solidFill>
            <a:srgbClr val="22D3E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15400" y="1325880"/>
            <a:ext cx="2103120" cy="2103120"/>
          </a:xfrm>
          <a:prstGeom prst="ellipse">
            <a:avLst/>
          </a:prstGeom>
          <a:solidFill>
            <a:srgbClr val="F8D477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18319" y="2240280"/>
            <a:ext cx="2103120" cy="2103120"/>
          </a:xfrm>
          <a:prstGeom prst="ellipse">
            <a:avLst/>
          </a:prstGeom>
          <a:solidFill>
            <a:srgbClr val="34D39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28600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9CACF"/>
                </a:solidFill>
                <a:latin typeface="Aptos"/>
              </a:rPr>
              <a:t>REBORN WAVE GROUP | NORMAL INVESTOR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66928"/>
            <a:ext cx="85953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Aptos"/>
              </a:rPr>
              <a:t>What Investors Track After Joining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17043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B9CACF"/>
                </a:solidFill>
                <a:latin typeface="Aptos"/>
              </a:rPr>
              <a:t>The dashboard should make investment performance simple to understand.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600200"/>
            <a:ext cx="3246120" cy="1115568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728216"/>
            <a:ext cx="2916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D3EE"/>
                </a:solidFill>
                <a:latin typeface="Aptos"/>
              </a:rPr>
              <a:t>Investment status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093976"/>
            <a:ext cx="2916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Aptos"/>
              </a:rPr>
              <a:t>Active zone, invested amount, activation date, and agreement reference.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1688" y="1600200"/>
            <a:ext cx="3246120" cy="1115568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79" y="1728216"/>
            <a:ext cx="2916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8D477"/>
                </a:solidFill>
                <a:latin typeface="Aptos"/>
              </a:rPr>
              <a:t>Monthly report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79" y="2093976"/>
            <a:ext cx="2916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Aptos"/>
              </a:rPr>
              <a:t>Revenue, operating costs, net profit, operator share, and Reborn share.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8" y="1600200"/>
            <a:ext cx="3246120" cy="1115568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1728216"/>
            <a:ext cx="2916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4D399"/>
                </a:solidFill>
                <a:latin typeface="Aptos"/>
              </a:rPr>
              <a:t>Payback tracker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093976"/>
            <a:ext cx="2916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Aptos"/>
              </a:rPr>
              <a:t>Capital recovery progress toward the 6-month target.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3172968"/>
            <a:ext cx="3246120" cy="1115568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3300984"/>
            <a:ext cx="2916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472B6"/>
                </a:solidFill>
                <a:latin typeface="Aptos"/>
              </a:rPr>
              <a:t>Wallet + QR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3666744"/>
            <a:ext cx="2916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Aptos"/>
              </a:rPr>
              <a:t>Club spending wallet, QR payment history, and top-up records.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61688" y="3172968"/>
            <a:ext cx="3246120" cy="1115568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26279" y="3300984"/>
            <a:ext cx="2916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A78BFA"/>
                </a:solidFill>
                <a:latin typeface="Aptos"/>
              </a:rPr>
              <a:t>Tokens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79" y="3666744"/>
            <a:ext cx="2916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Aptos"/>
              </a:rPr>
              <a:t>Daily token claims from eligible blindbox/pet ownership and reward activity.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65008" y="3172968"/>
            <a:ext cx="3246120" cy="1115568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3300984"/>
            <a:ext cx="2916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D3EE"/>
                </a:solidFill>
                <a:latin typeface="Aptos"/>
              </a:rPr>
              <a:t>Payouts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3666744"/>
            <a:ext cx="2916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Aptos"/>
              </a:rPr>
              <a:t>Withdrawal request, approval status, and payout history.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5010912"/>
            <a:ext cx="10287000" cy="713232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59" y="5138928"/>
            <a:ext cx="99578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8D477"/>
                </a:solidFill>
                <a:latin typeface="Aptos"/>
              </a:rPr>
              <a:t>Admin verification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59" y="5504688"/>
            <a:ext cx="99578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Aptos"/>
              </a:rPr>
              <a:t>Admin confirms payment, activates the investment, updates packages, checks monthly reports, and approves withdrawals.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46520"/>
            <a:ext cx="6492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 b="0">
                <a:solidFill>
                  <a:srgbClr val="B9CACF"/>
                </a:solidFill>
                <a:latin typeface="Aptos"/>
              </a:rPr>
              <a:t>Reborn Wave Group | Normal Investor Guide | SGD model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89520" y="6355080"/>
            <a:ext cx="3931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00" b="0">
                <a:solidFill>
                  <a:srgbClr val="B9CACF"/>
                </a:solidFill>
                <a:latin typeface="Aptos"/>
              </a:rPr>
              <a:t>Projected returns only, not guaranteed.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646920" y="-182880"/>
            <a:ext cx="2194560" cy="7223760"/>
          </a:xfrm>
          <a:prstGeom prst="rect">
            <a:avLst/>
          </a:prstGeom>
          <a:solidFill>
            <a:srgbClr val="08373D"/>
          </a:solidFill>
          <a:ln>
            <a:solidFill>
              <a:srgbClr val="083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12480" y="411480"/>
            <a:ext cx="2103120" cy="2103120"/>
          </a:xfrm>
          <a:prstGeom prst="ellipse">
            <a:avLst/>
          </a:prstGeom>
          <a:solidFill>
            <a:srgbClr val="22D3E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15400" y="1325880"/>
            <a:ext cx="2103120" cy="2103120"/>
          </a:xfrm>
          <a:prstGeom prst="ellipse">
            <a:avLst/>
          </a:prstGeom>
          <a:solidFill>
            <a:srgbClr val="F8D477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18319" y="2240280"/>
            <a:ext cx="2103120" cy="2103120"/>
          </a:xfrm>
          <a:prstGeom prst="ellipse">
            <a:avLst/>
          </a:prstGeom>
          <a:solidFill>
            <a:srgbClr val="34D39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28600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9CACF"/>
                </a:solidFill>
                <a:latin typeface="Aptos"/>
              </a:rPr>
              <a:t>REBORN WAVE GROUP | NORMAL INVESTOR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66928"/>
            <a:ext cx="85953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Aptos"/>
              </a:rPr>
              <a:t>Investor Blindbox Benefit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17043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B9CACF"/>
                </a:solidFill>
                <a:latin typeface="Aptos"/>
              </a:rPr>
              <a:t>Normal investors also join the Doluruu pet ecosystem.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627632"/>
            <a:ext cx="3749039" cy="3566160"/>
          </a:xfrm>
          <a:prstGeom prst="roundRect">
            <a:avLst/>
          </a:prstGeom>
          <a:solidFill>
            <a:srgbClr val="0D3A41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doluruu-blindbox-box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1847088"/>
            <a:ext cx="3246120" cy="1874519"/>
          </a:xfrm>
          <a:prstGeom prst="rect">
            <a:avLst/>
          </a:prstGeom>
        </p:spPr>
      </p:pic>
      <p:pic>
        <p:nvPicPr>
          <p:cNvPr id="11" name="Picture 10" descr="doluruu-female-transpar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7320" y="3657600"/>
            <a:ext cx="960120" cy="960120"/>
          </a:xfrm>
          <a:prstGeom prst="rect">
            <a:avLst/>
          </a:prstGeom>
        </p:spPr>
      </p:pic>
      <p:pic>
        <p:nvPicPr>
          <p:cNvPr id="12" name="Picture 11" descr="Doluruu Boy_174966454535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6040" y="3675887"/>
            <a:ext cx="914400" cy="91440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800600" y="1645920"/>
            <a:ext cx="2788920" cy="1143000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5192" y="1773936"/>
            <a:ext cx="2459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8D477"/>
                </a:solidFill>
                <a:latin typeface="Aptos"/>
              </a:rPr>
              <a:t>Free blindbox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65192" y="2139696"/>
            <a:ext cx="2459736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B9CACF"/>
                </a:solidFill>
                <a:latin typeface="Aptos"/>
              </a:rPr>
              <a:t>Each investor receives one blindbox benefit when their investment is activated.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09560" y="1645920"/>
            <a:ext cx="2788920" cy="1143000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1773936"/>
            <a:ext cx="2459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D3EE"/>
                </a:solidFill>
                <a:latin typeface="Aptos"/>
              </a:rPr>
              <a:t>Daily care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74152" y="2139696"/>
            <a:ext cx="2459736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B9CACF"/>
                </a:solidFill>
                <a:latin typeface="Aptos"/>
              </a:rPr>
              <a:t>Feed and care for pets daily to collect tokens inside the ecosystem.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0600" y="3154680"/>
            <a:ext cx="2788920" cy="1143000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5192" y="3282696"/>
            <a:ext cx="2459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472B6"/>
                </a:solidFill>
                <a:latin typeface="Aptos"/>
              </a:rPr>
              <a:t>Male + female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65192" y="3648456"/>
            <a:ext cx="2459736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B9CACF"/>
                </a:solidFill>
                <a:latin typeface="Aptos"/>
              </a:rPr>
              <a:t>If the investor owns one male and one female, they can receive one baby pet.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9560" y="3154680"/>
            <a:ext cx="2788920" cy="1143000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74152" y="3282696"/>
            <a:ext cx="2459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4D399"/>
                </a:solidFill>
                <a:latin typeface="Aptos"/>
              </a:rPr>
              <a:t>Token utility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74152" y="3648456"/>
            <a:ext cx="2459736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B9CACF"/>
                </a:solidFill>
                <a:latin typeface="Aptos"/>
              </a:rPr>
              <a:t>Tokens can be used for eligible exchange prizes, rewards, or campaigns.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00600" y="4663440"/>
            <a:ext cx="5897880" cy="694944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65192" y="4791455"/>
            <a:ext cx="55686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A78BFA"/>
                </a:solidFill>
                <a:latin typeface="Aptos"/>
              </a:rPr>
              <a:t>Example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65192" y="5157216"/>
            <a:ext cx="5568696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Aptos"/>
              </a:rPr>
              <a:t>Three pets can generate three daily token opportunities, subject to app rules and active campaign terms.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6492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 b="0">
                <a:solidFill>
                  <a:srgbClr val="B9CACF"/>
                </a:solidFill>
                <a:latin typeface="Aptos"/>
              </a:rPr>
              <a:t>Reborn Wave Group | Normal Investor Guide | SGD model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9520" y="6355080"/>
            <a:ext cx="3931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00" b="0">
                <a:solidFill>
                  <a:srgbClr val="B9CACF"/>
                </a:solidFill>
                <a:latin typeface="Aptos"/>
              </a:rPr>
              <a:t>Projected returns only, not guaranteed.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646920" y="-182880"/>
            <a:ext cx="2194560" cy="7223760"/>
          </a:xfrm>
          <a:prstGeom prst="rect">
            <a:avLst/>
          </a:prstGeom>
          <a:solidFill>
            <a:srgbClr val="08373D"/>
          </a:solidFill>
          <a:ln>
            <a:solidFill>
              <a:srgbClr val="083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12480" y="411480"/>
            <a:ext cx="2103120" cy="2103120"/>
          </a:xfrm>
          <a:prstGeom prst="ellipse">
            <a:avLst/>
          </a:prstGeom>
          <a:solidFill>
            <a:srgbClr val="22D3E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15400" y="1325880"/>
            <a:ext cx="2103120" cy="2103120"/>
          </a:xfrm>
          <a:prstGeom prst="ellipse">
            <a:avLst/>
          </a:prstGeom>
          <a:solidFill>
            <a:srgbClr val="F8D477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18319" y="2240280"/>
            <a:ext cx="2103120" cy="2103120"/>
          </a:xfrm>
          <a:prstGeom prst="ellipse">
            <a:avLst/>
          </a:prstGeom>
          <a:solidFill>
            <a:srgbClr val="34D39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28600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9CACF"/>
                </a:solidFill>
                <a:latin typeface="Aptos"/>
              </a:rPr>
              <a:t>REBORN WAVE GROUP | NORMAL INVESTOR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66928"/>
            <a:ext cx="85953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Aptos"/>
              </a:rPr>
              <a:t>Payouts, Documents, And Risk Controls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17043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B9CACF"/>
                </a:solidFill>
                <a:latin typeface="Aptos"/>
              </a:rPr>
              <a:t>A proper investor flow needs clear proof, reporting, and protections.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627632"/>
            <a:ext cx="3246120" cy="1234440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755648"/>
            <a:ext cx="2916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D3EE"/>
                </a:solidFill>
                <a:latin typeface="Aptos"/>
              </a:rPr>
              <a:t>Documents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121408"/>
            <a:ext cx="2916936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B9CACF"/>
                </a:solidFill>
                <a:latin typeface="Aptos"/>
              </a:rPr>
              <a:t>Investor agreement, payment proof, allocation confirmation, and monthly report record.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60520" y="1627632"/>
            <a:ext cx="3246120" cy="1234440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5112" y="1755648"/>
            <a:ext cx="2916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8D477"/>
                </a:solidFill>
                <a:latin typeface="Aptos"/>
              </a:rPr>
              <a:t>Reports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5112" y="2121408"/>
            <a:ext cx="2916936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B9CACF"/>
                </a:solidFill>
                <a:latin typeface="Aptos"/>
              </a:rPr>
              <a:t>Shared POS or audited monthly report should verify sales, costs, and net profit.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62672" y="1627632"/>
            <a:ext cx="3246120" cy="1234440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27264" y="1755648"/>
            <a:ext cx="2916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4D399"/>
                </a:solidFill>
                <a:latin typeface="Aptos"/>
              </a:rPr>
              <a:t>Payout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27264" y="2121408"/>
            <a:ext cx="2916936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B9CACF"/>
                </a:solidFill>
                <a:latin typeface="Aptos"/>
              </a:rPr>
              <a:t>Profit share can be paid out, kept in wallet, spent in club, or reinvested by agreement.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3401568"/>
            <a:ext cx="4983480" cy="1325880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3529584"/>
            <a:ext cx="4654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472B6"/>
                </a:solidFill>
                <a:latin typeface="Aptos"/>
              </a:rPr>
              <a:t>Risk controls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3895344"/>
            <a:ext cx="4654296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B9CACF"/>
                </a:solidFill>
                <a:latin typeface="Aptos"/>
              </a:rPr>
              <a:t>Minimum reporting standards, admin verification, operator review, and replacement rights for inactive/non-performing operators.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25312" y="3401568"/>
            <a:ext cx="4983480" cy="1325880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89904" y="3529584"/>
            <a:ext cx="4654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A78BFA"/>
                </a:solidFill>
                <a:latin typeface="Aptos"/>
              </a:rPr>
              <a:t>Investor protection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9904" y="3895344"/>
            <a:ext cx="4654296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B9CACF"/>
                </a:solidFill>
                <a:latin typeface="Aptos"/>
              </a:rPr>
              <a:t>Do not rely only on projections. Review legal, tax, accounting, local licensing, and operational risk before investing.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230368"/>
            <a:ext cx="9875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B9CACF"/>
                </a:solidFill>
                <a:latin typeface="Aptos"/>
              </a:rPr>
              <a:t>Investment returns are projections, not guaranteed returns. Investors should review the agreement, business risk, local law, tax, and accounting advice before joining.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46520"/>
            <a:ext cx="6492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 b="0">
                <a:solidFill>
                  <a:srgbClr val="B9CACF"/>
                </a:solidFill>
                <a:latin typeface="Aptos"/>
              </a:rPr>
              <a:t>Reborn Wave Group | Normal Investor Guide | SGD model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6355080"/>
            <a:ext cx="3931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00" b="0">
                <a:solidFill>
                  <a:srgbClr val="B9CACF"/>
                </a:solidFill>
                <a:latin typeface="Aptos"/>
              </a:rPr>
              <a:t>Projected returns only, not guaranteed.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646920" y="-182880"/>
            <a:ext cx="2194560" cy="7223760"/>
          </a:xfrm>
          <a:prstGeom prst="rect">
            <a:avLst/>
          </a:prstGeom>
          <a:solidFill>
            <a:srgbClr val="08373D"/>
          </a:solidFill>
          <a:ln>
            <a:solidFill>
              <a:srgbClr val="0837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12480" y="411480"/>
            <a:ext cx="2103120" cy="2103120"/>
          </a:xfrm>
          <a:prstGeom prst="ellipse">
            <a:avLst/>
          </a:prstGeom>
          <a:solidFill>
            <a:srgbClr val="22D3E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15400" y="1325880"/>
            <a:ext cx="2103120" cy="2103120"/>
          </a:xfrm>
          <a:prstGeom prst="ellipse">
            <a:avLst/>
          </a:prstGeom>
          <a:solidFill>
            <a:srgbClr val="F8D477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18319" y="2240280"/>
            <a:ext cx="2103120" cy="2103120"/>
          </a:xfrm>
          <a:prstGeom prst="ellipse">
            <a:avLst/>
          </a:prstGeom>
          <a:solidFill>
            <a:srgbClr val="34D39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28600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9CACF"/>
                </a:solidFill>
                <a:latin typeface="Aptos"/>
              </a:rPr>
              <a:t>REBORN WAVE GROUP | NORMAL INVESTOR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66928"/>
            <a:ext cx="85953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Aptos"/>
              </a:rPr>
              <a:t>Next Steps For A New Investor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17043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B9CACF"/>
                </a:solidFill>
                <a:latin typeface="Aptos"/>
              </a:rPr>
              <a:t>Use this flow to move from interest to a confirmed account.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225296"/>
            <a:ext cx="9966960" cy="530352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353312"/>
            <a:ext cx="96377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D3EE"/>
                </a:solidFill>
                <a:latin typeface="Aptos"/>
              </a:rPr>
              <a:t>1. Visit investor page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1719072"/>
            <a:ext cx="9637776" cy="-36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B9CACF"/>
                </a:solidFill>
                <a:latin typeface="Aptos"/>
              </a:rPr>
              <a:t>Open rebornwave.group/investor and read the available packages/zones.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1938528"/>
            <a:ext cx="9966960" cy="530352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066544"/>
            <a:ext cx="96377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8D477"/>
                </a:solidFill>
                <a:latin typeface="Aptos"/>
              </a:rPr>
              <a:t>2. Create account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2432304"/>
            <a:ext cx="9637776" cy="-36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B9CACF"/>
                </a:solidFill>
                <a:latin typeface="Aptos"/>
              </a:rPr>
              <a:t>Register and save login details for the investor dashboard.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51760"/>
            <a:ext cx="9966960" cy="530352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2779776"/>
            <a:ext cx="96377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4D399"/>
                </a:solidFill>
                <a:latin typeface="Aptos"/>
              </a:rPr>
              <a:t>3. Contact Reborn Wave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" y="3145536"/>
            <a:ext cx="9637776" cy="-36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B9CACF"/>
                </a:solidFill>
                <a:latin typeface="Aptos"/>
              </a:rPr>
              <a:t>Ask admin to confirm the latest allocation, agreement, and payment method.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364991"/>
            <a:ext cx="9966960" cy="530352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3493008"/>
            <a:ext cx="96377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472B6"/>
                </a:solidFill>
                <a:latin typeface="Aptos"/>
              </a:rPr>
              <a:t>4. Choose investment part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" y="3858768"/>
            <a:ext cx="9637776" cy="-36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B9CACF"/>
                </a:solidFill>
                <a:latin typeface="Aptos"/>
              </a:rPr>
              <a:t>Select one business zone or agreed partial allocation.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078224"/>
            <a:ext cx="9966960" cy="530352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206240"/>
            <a:ext cx="96377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A78BFA"/>
                </a:solidFill>
                <a:latin typeface="Aptos"/>
              </a:rPr>
              <a:t>5. Submit proof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" y="4572000"/>
            <a:ext cx="9637776" cy="-36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B9CACF"/>
                </a:solidFill>
                <a:latin typeface="Aptos"/>
              </a:rPr>
              <a:t>Send payment proof and wait for admin activation.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4791456"/>
            <a:ext cx="9966960" cy="530352"/>
          </a:xfrm>
          <a:prstGeom prst="roundRect">
            <a:avLst/>
          </a:prstGeom>
          <a:solidFill>
            <a:srgbClr val="0A2A30"/>
          </a:solidFill>
          <a:ln>
            <a:solidFill>
              <a:srgbClr val="1F5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4919472"/>
            <a:ext cx="96377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D3EE"/>
                </a:solidFill>
                <a:latin typeface="Aptos"/>
              </a:rPr>
              <a:t>6. Track monthly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" y="5285232"/>
            <a:ext cx="9637776" cy="-36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B9CACF"/>
                </a:solidFill>
                <a:latin typeface="Aptos"/>
              </a:rPr>
              <a:t>Review dashboard, reports, payout status, and token activity.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650992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B9CACF"/>
                </a:solidFill>
                <a:latin typeface="Aptos"/>
              </a:rPr>
              <a:t>Investment returns are projections, not guaranteed returns. Investors should review the agreement, business risk, local law, tax, and accounting advice before joining.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6492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 b="0">
                <a:solidFill>
                  <a:srgbClr val="B9CACF"/>
                </a:solidFill>
                <a:latin typeface="Aptos"/>
              </a:rPr>
              <a:t>Reborn Wave Group | Normal Investor Guide | SGD model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9520" y="6355080"/>
            <a:ext cx="3931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00" b="0">
                <a:solidFill>
                  <a:srgbClr val="B9CACF"/>
                </a:solidFill>
                <a:latin typeface="Aptos"/>
              </a:rPr>
              <a:t>Projected returns only, not guaranteed.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