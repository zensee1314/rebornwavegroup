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wg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404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1572768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900" b="1">
                <a:solidFill>
                  <a:srgbClr val="FFFFFF"/>
                </a:solidFill>
                <a:latin typeface="Aptos"/>
              </a:rPr>
              <a:t>Reborn Wave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3591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8D477"/>
                </a:solidFill>
                <a:latin typeface="Aptos"/>
              </a:rPr>
              <a:t>5-Level Batam Activity Club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9718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B9CACF"/>
                </a:solidFill>
                <a:latin typeface="Aptos"/>
              </a:rPr>
              <a:t>Operator-Investor Opportunity: 2 Years $0 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3675887"/>
            <a:ext cx="539496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Aptos"/>
              </a:rPr>
              <a:t>Business owners fund renovation and operations, target capital recovery in 6 months, then keep 70% of monthly net profit from month 7 onward.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822960"/>
            <a:ext cx="4709160" cy="5120640"/>
          </a:xfrm>
          <a:prstGeom prst="roundRect">
            <a:avLst/>
          </a:prstGeom>
          <a:solidFill>
            <a:srgbClr val="0D3A41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oluruu-blindbox-box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1042415"/>
            <a:ext cx="4069080" cy="2331720"/>
          </a:xfrm>
          <a:prstGeom prst="rect">
            <a:avLst/>
          </a:prstGeom>
        </p:spPr>
      </p:pic>
      <p:pic>
        <p:nvPicPr>
          <p:cNvPr id="13" name="Picture 12" descr="doluruu-female-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3090672"/>
            <a:ext cx="1325880" cy="1325880"/>
          </a:xfrm>
          <a:prstGeom prst="rect">
            <a:avLst/>
          </a:prstGeom>
        </p:spPr>
      </p:pic>
      <p:pic>
        <p:nvPicPr>
          <p:cNvPr id="14" name="Picture 13" descr="Doluruu Boy_17496645453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6528" y="3063240"/>
            <a:ext cx="1207008" cy="12070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84848" y="5029200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8D477"/>
                </a:solidFill>
                <a:latin typeface="Aptos"/>
              </a:rPr>
              <a:t>75 sqm per unit | IDR main + SGD reference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Tourism, family, nightlife, beauty, KTV, pet cafe, and events in one building.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3246120" cy="237744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920240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One Destination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295144"/>
            <a:ext cx="2916936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A five-level Batam club where tourists, families, groups, and nightlife guests can stay longer and spend across multiple activities.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83080"/>
            <a:ext cx="3246120" cy="237744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920240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Partner-Led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295144"/>
            <a:ext cx="2916936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Operators bring capital and operating expertise while Reborn Wave provides space, brand, traffic, website, social media, and shared customer flow.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783080"/>
            <a:ext cx="3246120" cy="237744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1" y="1920240"/>
            <a:ext cx="29169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Aptos"/>
              </a:rPr>
              <a:t>Cross-Traffic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1" y="2295144"/>
            <a:ext cx="2916936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KTV, kids play, beauty, pet cafe, and live events feed each other through packages, birthdays, competitions, and social content.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Operator Deal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A lower-rent-risk path with a 6-month capital recovery target.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72768"/>
            <a:ext cx="5166360" cy="129844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709928"/>
            <a:ext cx="4837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$0 rent for 24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084832"/>
            <a:ext cx="4837176" cy="676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Operator gets two years rent-free from opening or handover date.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72768"/>
            <a:ext cx="5166360" cy="129844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709928"/>
            <a:ext cx="4837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Operator funds the business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084832"/>
            <a:ext cx="4837176" cy="676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Renovation, equipment, staff, stock, licenses, utilities, and operations are covered by the operator.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64408"/>
            <a:ext cx="5166360" cy="129844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3401568"/>
            <a:ext cx="4837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Aptos"/>
              </a:rPr>
              <a:t>70/30 split + 6-month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3776472"/>
            <a:ext cx="4837176" cy="676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Monthly net profit is split 70% to operator and 30% to Reborn. Base case targets capital back in 6 months.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64408"/>
            <a:ext cx="5166360" cy="129844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3401568"/>
            <a:ext cx="4837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Aptos"/>
              </a:rPr>
              <a:t>Transparent reporting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3776472"/>
            <a:ext cx="4837176" cy="676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Sales run through shared POS or audited monthly report; cash sales must be recorded daily.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Floor + Unit Breakdown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Updated area assumption: 75 sqm per unit.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81328"/>
            <a:ext cx="10744200" cy="457200"/>
          </a:xfrm>
          <a:prstGeom prst="roundRect">
            <a:avLst/>
          </a:prstGeom>
          <a:solidFill>
            <a:srgbClr val="07272D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72768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472B6"/>
                </a:solidFill>
                <a:latin typeface="Aptos"/>
              </a:rPr>
              <a:t>1FA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554480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Kids Fun House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1563624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1 unit(s)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156362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8D477"/>
                </a:solidFill>
                <a:latin typeface="Aptos"/>
              </a:rPr>
              <a:t>75 sqm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563624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Family and tourist daytime traffic, prize games, birthday visits, and safe kid-friendly activities.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084832"/>
            <a:ext cx="10744200" cy="457200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17627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Aptos"/>
              </a:rPr>
              <a:t>1FB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157984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KTV Lounge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2167128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2 unit(s)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216712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8D477"/>
                </a:solidFill>
                <a:latin typeface="Aptos"/>
              </a:rPr>
              <a:t>150 sqm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167128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Open singing, group seating, singing competitions, and social video moments for repeat traffic.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688336"/>
            <a:ext cx="10744200" cy="457200"/>
          </a:xfrm>
          <a:prstGeom prst="roundRect">
            <a:avLst/>
          </a:prstGeom>
          <a:solidFill>
            <a:srgbClr val="07272D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779776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472B6"/>
                </a:solidFill>
                <a:latin typeface="Aptos"/>
              </a:rPr>
              <a:t>2FA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2761488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Beauty Salon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2770632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1 unit(s)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277063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8D477"/>
                </a:solidFill>
                <a:latin typeface="Aptos"/>
              </a:rPr>
              <a:t>75 sqm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770632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Repeat appointments, group makeovers, event prep, and cross-traffic from KTV guests.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291840"/>
            <a:ext cx="10744200" cy="457200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383280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2D3EE"/>
                </a:solidFill>
                <a:latin typeface="Aptos"/>
              </a:rPr>
              <a:t>2FB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3364992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Private KTV Rooms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3374136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2 unit(s)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0368" y="3374136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8D477"/>
                </a:solidFill>
                <a:latin typeface="Aptos"/>
              </a:rPr>
              <a:t>150 sqm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374136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Four bookable rooms for birthdays, friend groups, customer hosting, and private celebrations.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3895344"/>
            <a:ext cx="10744200" cy="457200"/>
          </a:xfrm>
          <a:prstGeom prst="roundRect">
            <a:avLst/>
          </a:prstGeom>
          <a:solidFill>
            <a:srgbClr val="07272D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3986783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472B6"/>
                </a:solidFill>
                <a:latin typeface="Aptos"/>
              </a:rPr>
              <a:t>3FA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3968496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Beauty Salon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39" y="3977639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1 unit(s)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30368" y="3977639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8D477"/>
                </a:solidFill>
                <a:latin typeface="Aptos"/>
              </a:rPr>
              <a:t>75 sqm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3977639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Beauty service beside VIP KTV supports premium guests, event prep, and recurring spend.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498848"/>
            <a:ext cx="10744200" cy="457200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4590288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8D477"/>
                </a:solidFill>
                <a:latin typeface="Aptos"/>
              </a:rPr>
              <a:t>3FB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7320" y="4572000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VIP KTV Rooms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77639" y="4581144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2 unit(s)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30368" y="458114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8D477"/>
                </a:solidFill>
                <a:latin typeface="Aptos"/>
              </a:rPr>
              <a:t>150 sqm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4581144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Two premium rooms for VIP groups, business hosting, birthday events, and higher table spend.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5102352"/>
            <a:ext cx="10744200" cy="457200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19379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4D399"/>
                </a:solidFill>
                <a:latin typeface="Aptos"/>
              </a:rPr>
              <a:t>4F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17320" y="5175504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Pet Cafe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77639" y="5184648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3 unit(s)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30368" y="5184648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8D477"/>
                </a:solidFill>
                <a:latin typeface="Aptos"/>
              </a:rPr>
              <a:t>225 sqm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5184648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Food, drinks, pet community, blindbox tie-ins, photo content, and family-friendly visits.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" y="5705856"/>
            <a:ext cx="10744200" cy="457200"/>
          </a:xfrm>
          <a:prstGeom prst="roundRect">
            <a:avLst/>
          </a:prstGeom>
          <a:solidFill>
            <a:srgbClr val="07272D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5797296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A78BFA"/>
                </a:solidFill>
                <a:latin typeface="Aptos"/>
              </a:rPr>
              <a:t>5F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17320" y="5779008"/>
            <a:ext cx="2423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Live House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77639" y="5788152"/>
            <a:ext cx="1143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3 unit(s)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30368" y="578815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8D477"/>
                </a:solidFill>
                <a:latin typeface="Aptos"/>
              </a:rPr>
              <a:t>225 sqm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9360" y="5788152"/>
            <a:ext cx="4892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Live band, performances, dance floor, sea-view events, premium tables, and nightlife traffic.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6-Month Capital Recovery Projection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Base-case projections target capital back in 6 months; month 7 onward becomes operator profit.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2377440" cy="384048"/>
          </a:xfrm>
          <a:prstGeom prst="rect">
            <a:avLst/>
          </a:prstGeom>
          <a:solidFill>
            <a:srgbClr val="083D4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22860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Business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1417320"/>
            <a:ext cx="1508760" cy="384048"/>
          </a:xfrm>
          <a:prstGeom prst="rect">
            <a:avLst/>
          </a:prstGeom>
          <a:solidFill>
            <a:srgbClr val="083D4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508760"/>
            <a:ext cx="1417319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Setup IDR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417320"/>
            <a:ext cx="1234440" cy="384048"/>
          </a:xfrm>
          <a:prstGeom prst="rect">
            <a:avLst/>
          </a:prstGeom>
          <a:solidFill>
            <a:srgbClr val="083D4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508760"/>
            <a:ext cx="114300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Setup SGD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3560" y="1417320"/>
            <a:ext cx="1600200" cy="384048"/>
          </a:xfrm>
          <a:prstGeom prst="rect">
            <a:avLst/>
          </a:prstGeom>
          <a:solidFill>
            <a:srgbClr val="083D4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1508760"/>
            <a:ext cx="15087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Monthly Net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1417320"/>
            <a:ext cx="1737360" cy="384048"/>
          </a:xfrm>
          <a:prstGeom prst="rect">
            <a:avLst/>
          </a:prstGeom>
          <a:solidFill>
            <a:srgbClr val="083D4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508760"/>
            <a:ext cx="1645919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Operator Annual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417320"/>
            <a:ext cx="822960" cy="384048"/>
          </a:xfrm>
          <a:prstGeom prst="rect">
            <a:avLst/>
          </a:prstGeom>
          <a:solidFill>
            <a:srgbClr val="083D44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1508760"/>
            <a:ext cx="73152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ROI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1810512"/>
            <a:ext cx="237744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1920240"/>
            <a:ext cx="2286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FFFFFF"/>
                </a:solidFill>
                <a:latin typeface="Aptos"/>
              </a:rPr>
              <a:t>1FA Kids Fun House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360" y="1810512"/>
            <a:ext cx="150876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0" y="1920240"/>
            <a:ext cx="14173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Rp875M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1810512"/>
            <a:ext cx="123444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1920240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S$63K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23560" y="1810512"/>
            <a:ext cx="160020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0" y="1920240"/>
            <a:ext cx="1508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Rp208M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1810512"/>
            <a:ext cx="173736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9480" y="1920240"/>
            <a:ext cx="16459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Rp1.75B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1810512"/>
            <a:ext cx="82296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1920240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472B6"/>
                </a:solidFill>
                <a:latin typeface="Aptos"/>
              </a:rPr>
              <a:t>200%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2286000"/>
            <a:ext cx="237744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2395728"/>
            <a:ext cx="2286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FFFFFF"/>
                </a:solidFill>
                <a:latin typeface="Aptos"/>
              </a:rPr>
              <a:t>1FB KTV Lounge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80360" y="2286000"/>
            <a:ext cx="150876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26080" y="2395728"/>
            <a:ext cx="14173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Rp1.75B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0" y="2286000"/>
            <a:ext cx="123444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4840" y="2395728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S$126K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23560" y="2286000"/>
            <a:ext cx="160020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0" y="2395728"/>
            <a:ext cx="1508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Rp417M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2286000"/>
            <a:ext cx="173736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69480" y="2395728"/>
            <a:ext cx="16459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Rp3.5B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61120" y="2286000"/>
            <a:ext cx="82296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06840" y="2395728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22D3EE"/>
                </a:solidFill>
                <a:latin typeface="Aptos"/>
              </a:rPr>
              <a:t>200%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2761488"/>
            <a:ext cx="237744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2871216"/>
            <a:ext cx="2286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FFFFFF"/>
                </a:solidFill>
                <a:latin typeface="Aptos"/>
              </a:rPr>
              <a:t>2FA Beauty Salon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80360" y="2761488"/>
            <a:ext cx="150876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26080" y="2871216"/>
            <a:ext cx="14173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Rp775M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89120" y="2761488"/>
            <a:ext cx="123444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34840" y="2871216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S$56K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23560" y="2761488"/>
            <a:ext cx="160020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0" y="2871216"/>
            <a:ext cx="1508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Rp185M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23760" y="2761488"/>
            <a:ext cx="173736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69480" y="2871216"/>
            <a:ext cx="16459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Rp1.55B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61120" y="2761488"/>
            <a:ext cx="82296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06840" y="2871216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472B6"/>
                </a:solidFill>
                <a:latin typeface="Aptos"/>
              </a:rPr>
              <a:t>200%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3236976"/>
            <a:ext cx="237744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3346704"/>
            <a:ext cx="2286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FFFFFF"/>
                </a:solidFill>
                <a:latin typeface="Aptos"/>
              </a:rPr>
              <a:t>2FB Private KTV Rooms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880360" y="3236976"/>
            <a:ext cx="150876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26080" y="3346704"/>
            <a:ext cx="14173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Rp1.9B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89120" y="3236976"/>
            <a:ext cx="123444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34840" y="3346704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S$137K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23560" y="3236976"/>
            <a:ext cx="160020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669280" y="3346704"/>
            <a:ext cx="1508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Rp452M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23760" y="3236976"/>
            <a:ext cx="173736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69480" y="3346704"/>
            <a:ext cx="16459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Rp3.8B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61120" y="3236976"/>
            <a:ext cx="82296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06840" y="3346704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22D3EE"/>
                </a:solidFill>
                <a:latin typeface="Aptos"/>
              </a:rPr>
              <a:t>200%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" y="3712464"/>
            <a:ext cx="237744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8640" y="3822192"/>
            <a:ext cx="2286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FFFFFF"/>
                </a:solidFill>
                <a:latin typeface="Aptos"/>
              </a:rPr>
              <a:t>3FA Beauty Salon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880360" y="3712464"/>
            <a:ext cx="150876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926080" y="3822192"/>
            <a:ext cx="14173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Rp775M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89120" y="3712464"/>
            <a:ext cx="123444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434840" y="3822192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S$56K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623560" y="3712464"/>
            <a:ext cx="160020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669280" y="3822192"/>
            <a:ext cx="1508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Rp185M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223760" y="3712464"/>
            <a:ext cx="173736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69480" y="3822192"/>
            <a:ext cx="16459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Rp1.55B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961120" y="3712464"/>
            <a:ext cx="82296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006840" y="3822192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472B6"/>
                </a:solidFill>
                <a:latin typeface="Aptos"/>
              </a:rPr>
              <a:t>200%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2920" y="4187952"/>
            <a:ext cx="237744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4297680"/>
            <a:ext cx="2286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FFFFFF"/>
                </a:solidFill>
                <a:latin typeface="Aptos"/>
              </a:rPr>
              <a:t>3FB VIP KTV Rooms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880360" y="4187952"/>
            <a:ext cx="150876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926080" y="4297680"/>
            <a:ext cx="14173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Rp2.15B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389120" y="4187952"/>
            <a:ext cx="123444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434840" y="4297680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S$155K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623560" y="4187952"/>
            <a:ext cx="160020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669280" y="4297680"/>
            <a:ext cx="1508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Rp512M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223760" y="4187952"/>
            <a:ext cx="173736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269480" y="4297680"/>
            <a:ext cx="16459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Rp4.3B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61120" y="4187952"/>
            <a:ext cx="82296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006840" y="4297680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8D477"/>
                </a:solidFill>
                <a:latin typeface="Aptos"/>
              </a:rPr>
              <a:t>200%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02920" y="4663440"/>
            <a:ext cx="237744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48640" y="4773168"/>
            <a:ext cx="2286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FFFFFF"/>
                </a:solidFill>
                <a:latin typeface="Aptos"/>
              </a:rPr>
              <a:t>4F Pet Cafe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880360" y="4663440"/>
            <a:ext cx="150876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926080" y="4773168"/>
            <a:ext cx="14173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Rp2.5B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389120" y="4663440"/>
            <a:ext cx="123444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434840" y="4773168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S$180K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623560" y="4663440"/>
            <a:ext cx="160020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669280" y="4773168"/>
            <a:ext cx="1508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Rp595M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223760" y="4663440"/>
            <a:ext cx="173736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269480" y="4773168"/>
            <a:ext cx="16459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Rp5.0B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961120" y="4663440"/>
            <a:ext cx="822960" cy="457200"/>
          </a:xfrm>
          <a:prstGeom prst="rect">
            <a:avLst/>
          </a:prstGeom>
          <a:solidFill>
            <a:srgbClr val="07272D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006840" y="4773168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34D399"/>
                </a:solidFill>
                <a:latin typeface="Aptos"/>
              </a:rPr>
              <a:t>200%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02920" y="5138928"/>
            <a:ext cx="237744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48640" y="5248656"/>
            <a:ext cx="2286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>
                <a:solidFill>
                  <a:srgbClr val="FFFFFF"/>
                </a:solidFill>
                <a:latin typeface="Aptos"/>
              </a:rPr>
              <a:t>5F Live House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880360" y="5138928"/>
            <a:ext cx="150876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926080" y="5248656"/>
            <a:ext cx="14173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Rp3.6B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389120" y="5138928"/>
            <a:ext cx="123444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434840" y="5248656"/>
            <a:ext cx="1143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S$259K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623560" y="5138928"/>
            <a:ext cx="160020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669280" y="5248656"/>
            <a:ext cx="15087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Rp857M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223760" y="5138928"/>
            <a:ext cx="173736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269480" y="5248656"/>
            <a:ext cx="164591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Rp7.2B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961120" y="5138928"/>
            <a:ext cx="822960" cy="457200"/>
          </a:xfrm>
          <a:prstGeom prst="rect">
            <a:avLst/>
          </a:prstGeom>
          <a:solidFill>
            <a:srgbClr val="093036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006840" y="5248656"/>
            <a:ext cx="731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A78BFA"/>
                </a:solidFill>
                <a:latin typeface="Aptos"/>
              </a:rPr>
              <a:t>200%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94360" y="5815584"/>
            <a:ext cx="9052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Projection target: operator recovers setup capital in 6 months; month 7 onward becomes operating profit. Exchange assumption: SGD 1 approx. IDR 13,900.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1FA Kids Fun House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1 unit(s) | 75 sqm | 70% operator / 30% Reborn Wave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146304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82495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72B6"/>
                </a:solidFill>
                <a:latin typeface="Aptos"/>
              </a:rPr>
              <a:t>Rp875M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84248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IDR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1572768"/>
            <a:ext cx="132588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1682495"/>
            <a:ext cx="1106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S$63K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1984248"/>
            <a:ext cx="11064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SGD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1572768"/>
            <a:ext cx="14173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928" y="1682495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Rp208M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1984248"/>
            <a:ext cx="1197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Monthly 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572768"/>
            <a:ext cx="15087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1682495"/>
            <a:ext cx="1289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Rp1.75B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1848" y="1984248"/>
            <a:ext cx="1289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operator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572768"/>
            <a:ext cx="114300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9208" y="1682495"/>
            <a:ext cx="923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72B6"/>
                </a:solidFill>
                <a:latin typeface="Aptos"/>
              </a:rPr>
              <a:t>200%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9208" y="1984248"/>
            <a:ext cx="9235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ROI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743200"/>
            <a:ext cx="365760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2880360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Monthly assumptions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3255264"/>
            <a:ext cx="332841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Revenue: Rp303M
Operating costs: Rp95M
Net profit before split: Rp208M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2743200"/>
            <a:ext cx="333756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2880360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Aptos"/>
              </a:rPr>
              <a:t>Why it attracts customers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6592" y="3255264"/>
            <a:ext cx="300837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Family and tourist daytime traffic, prize games, birthday visits, and safe kid-friendly activities.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2743200"/>
            <a:ext cx="274320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1" y="28803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Operator upside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1" y="3255264"/>
            <a:ext cx="241401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Target setup capital back in 6 months.
Month 7 onward becomes projected profit.
Annual ROI projection: 200%.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1FB KTV Lounge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2 unit(s) | 150 sqm | 70% operator / 30% Reborn Wave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146304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82495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Rp1.75B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84248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IDR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1572768"/>
            <a:ext cx="132588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1682495"/>
            <a:ext cx="1106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S$126K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1984248"/>
            <a:ext cx="11064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SGD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1572768"/>
            <a:ext cx="14173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928" y="1682495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Rp417M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1984248"/>
            <a:ext cx="1197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Monthly 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572768"/>
            <a:ext cx="15087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1682495"/>
            <a:ext cx="1289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Rp3.5B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1848" y="1984248"/>
            <a:ext cx="1289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operator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572768"/>
            <a:ext cx="114300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9208" y="1682495"/>
            <a:ext cx="923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200%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9208" y="1984248"/>
            <a:ext cx="9235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ROI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743200"/>
            <a:ext cx="365760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2880360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Monthly assumptions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3255264"/>
            <a:ext cx="332841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Revenue: Rp622M
Operating costs: Rp205M
Net profit before split: Rp417M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2743200"/>
            <a:ext cx="333756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2880360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Why it attracts customers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6592" y="3255264"/>
            <a:ext cx="300837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Open singing, group seating, singing competitions, and social video moments for repeat traffic.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2743200"/>
            <a:ext cx="274320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1" y="28803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Operator upside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1" y="3255264"/>
            <a:ext cx="241401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Target setup capital back in 6 months.
Month 7 onward becomes projected profit.
Annual ROI projection: 200%.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2FA Beauty Salon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1 unit(s) | 75 sqm | 70% operator / 30% Reborn Wave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146304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82495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72B6"/>
                </a:solidFill>
                <a:latin typeface="Aptos"/>
              </a:rPr>
              <a:t>Rp775M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84248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IDR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1572768"/>
            <a:ext cx="132588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1682495"/>
            <a:ext cx="1106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S$56K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1984248"/>
            <a:ext cx="11064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SGD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1572768"/>
            <a:ext cx="14173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928" y="1682495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Rp185M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1984248"/>
            <a:ext cx="1197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Monthly 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572768"/>
            <a:ext cx="15087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1682495"/>
            <a:ext cx="1289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Rp1.55B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1848" y="1984248"/>
            <a:ext cx="1289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operator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572768"/>
            <a:ext cx="114300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9208" y="1682495"/>
            <a:ext cx="923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72B6"/>
                </a:solidFill>
                <a:latin typeface="Aptos"/>
              </a:rPr>
              <a:t>200%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9208" y="1984248"/>
            <a:ext cx="9235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ROI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743200"/>
            <a:ext cx="365760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2880360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Monthly assumptions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3255264"/>
            <a:ext cx="332841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Revenue: Rp270M
Operating costs: Rp85M
Net profit before split: Rp185M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2743200"/>
            <a:ext cx="333756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2880360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Aptos"/>
              </a:rPr>
              <a:t>Why it attracts customers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6592" y="3255264"/>
            <a:ext cx="300837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Repeat appointments, group makeovers, event prep, and cross-traffic from KTV guests.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2743200"/>
            <a:ext cx="274320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1" y="28803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Operator upside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1" y="3255264"/>
            <a:ext cx="241401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Target setup capital back in 6 months.
Month 7 onward becomes projected profit.
Annual ROI projection: 200%.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2FB Private KTV Rooms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2 unit(s) | 150 sqm | 70% operator / 30% Reborn Wave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146304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82495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Rp1.9B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84248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IDR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1572768"/>
            <a:ext cx="132588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1682495"/>
            <a:ext cx="1106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S$137K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1984248"/>
            <a:ext cx="11064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SGD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1572768"/>
            <a:ext cx="14173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928" y="1682495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Rp452M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1984248"/>
            <a:ext cx="1197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Monthly 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572768"/>
            <a:ext cx="15087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1682495"/>
            <a:ext cx="1289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Rp3.8B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1848" y="1984248"/>
            <a:ext cx="1289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operator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572768"/>
            <a:ext cx="114300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9208" y="1682495"/>
            <a:ext cx="923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200%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9208" y="1984248"/>
            <a:ext cx="9235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ROI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743200"/>
            <a:ext cx="365760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2880360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Monthly assumptions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3255264"/>
            <a:ext cx="332841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Revenue: Rp687M
Operating costs: Rp235M
Net profit before split: Rp452M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2743200"/>
            <a:ext cx="333756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2880360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Why it attracts customers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6592" y="3255264"/>
            <a:ext cx="300837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Four bookable rooms for birthdays, friend groups, customer hosting, and private celebrations.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2743200"/>
            <a:ext cx="274320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1" y="28803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Operator upside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1" y="3255264"/>
            <a:ext cx="241401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Target setup capital back in 6 months.
Month 7 onward becomes projected profit.
Annual ROI projection: 200%.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3FA Beauty Salon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1 unit(s) | 75 sqm | 70% operator / 30% Reborn Wave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146304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82495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72B6"/>
                </a:solidFill>
                <a:latin typeface="Aptos"/>
              </a:rPr>
              <a:t>Rp775M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84248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IDR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1572768"/>
            <a:ext cx="132588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1682495"/>
            <a:ext cx="1106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S$56K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1984248"/>
            <a:ext cx="11064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SGD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1572768"/>
            <a:ext cx="14173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928" y="1682495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Rp185M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1984248"/>
            <a:ext cx="1197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Monthly 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572768"/>
            <a:ext cx="15087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1682495"/>
            <a:ext cx="1289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Rp1.55B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1848" y="1984248"/>
            <a:ext cx="1289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operator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572768"/>
            <a:ext cx="114300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9208" y="1682495"/>
            <a:ext cx="923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72B6"/>
                </a:solidFill>
                <a:latin typeface="Aptos"/>
              </a:rPr>
              <a:t>200%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9208" y="1984248"/>
            <a:ext cx="9235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ROI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743200"/>
            <a:ext cx="365760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2880360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Monthly assumptions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3255264"/>
            <a:ext cx="332841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Revenue: Rp275M
Operating costs: Rp90M
Net profit before split: Rp185M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2743200"/>
            <a:ext cx="333756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2880360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Aptos"/>
              </a:rPr>
              <a:t>Why it attracts customers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6592" y="3255264"/>
            <a:ext cx="300837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Beauty service beside VIP KTV supports premium guests, event prep, and recurring spend.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2743200"/>
            <a:ext cx="274320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1" y="28803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Operator upside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1" y="3255264"/>
            <a:ext cx="241401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Target setup capital back in 6 months.
Month 7 onward becomes projected profit.
Annual ROI projection: 200%.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3FB VIP KTV Rooms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2 unit(s) | 150 sqm | 70% operator / 30% Reborn Wave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146304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82495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Rp2.15B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84248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IDR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1572768"/>
            <a:ext cx="132588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1682495"/>
            <a:ext cx="1106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S$155K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1984248"/>
            <a:ext cx="11064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SGD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1572768"/>
            <a:ext cx="14173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928" y="1682495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Rp512M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1984248"/>
            <a:ext cx="1197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Monthly 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572768"/>
            <a:ext cx="15087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1682495"/>
            <a:ext cx="1289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Rp4.3B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1848" y="1984248"/>
            <a:ext cx="1289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operator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572768"/>
            <a:ext cx="114300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9208" y="1682495"/>
            <a:ext cx="923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200%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9208" y="1984248"/>
            <a:ext cx="9235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ROI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743200"/>
            <a:ext cx="365760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2880360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Monthly assumptions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3255264"/>
            <a:ext cx="332841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Revenue: Rp782M
Operating costs: Rp270M
Net profit before split: Rp512M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2743200"/>
            <a:ext cx="333756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2880360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Why it attracts customers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6592" y="3255264"/>
            <a:ext cx="300837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Two premium rooms for VIP groups, business hosting, birthday events, and higher table spend.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2743200"/>
            <a:ext cx="274320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1" y="28803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Operator upside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1" y="3255264"/>
            <a:ext cx="241401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Target setup capital back in 6 months.
Month 7 onward becomes projected profit.
Annual ROI projection: 200%.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4F Pet Cafe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3 unit(s) | 225 sqm | 70% operator / 30% Reborn Wave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146304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82495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Rp2.5B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84248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IDR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1572768"/>
            <a:ext cx="132588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1682495"/>
            <a:ext cx="1106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S$180K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1984248"/>
            <a:ext cx="11064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SGD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1572768"/>
            <a:ext cx="14173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928" y="1682495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Rp595M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1984248"/>
            <a:ext cx="1197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Monthly 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572768"/>
            <a:ext cx="15087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1682495"/>
            <a:ext cx="1289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Rp5.0B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1848" y="1984248"/>
            <a:ext cx="1289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operator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572768"/>
            <a:ext cx="114300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9208" y="1682495"/>
            <a:ext cx="923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200%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9208" y="1984248"/>
            <a:ext cx="9235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ROI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743200"/>
            <a:ext cx="365760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2880360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Monthly assumptions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3255264"/>
            <a:ext cx="332841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Revenue: Rp925M
Operating costs: Rp330M
Net profit before split: Rp595M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2743200"/>
            <a:ext cx="333756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2880360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Aptos"/>
              </a:rPr>
              <a:t>Why it attracts customers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6592" y="3255264"/>
            <a:ext cx="300837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Food, drinks, pet community, blindbox tie-ins, photo content, and family-friendly visits.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2743200"/>
            <a:ext cx="274320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1" y="28803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Operator upside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1" y="3255264"/>
            <a:ext cx="241401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Target setup capital back in 6 months.
Month 7 onward becomes projected profit.
Annual ROI projection: 200%.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5F Live House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3 unit(s) | 225 sqm | 70% operator / 30% Reborn Wave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146304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682495"/>
            <a:ext cx="12435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78BFA"/>
                </a:solidFill>
                <a:latin typeface="Aptos"/>
              </a:rPr>
              <a:t>Rp3.6B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984248"/>
            <a:ext cx="1243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IDR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1572768"/>
            <a:ext cx="132588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1682495"/>
            <a:ext cx="11064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S$259K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1984248"/>
            <a:ext cx="11064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Setup SGD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1572768"/>
            <a:ext cx="14173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5928" y="1682495"/>
            <a:ext cx="1197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Rp857M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1984248"/>
            <a:ext cx="11978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Monthly 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572768"/>
            <a:ext cx="15087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1682495"/>
            <a:ext cx="1289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Rp7.2B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1848" y="1984248"/>
            <a:ext cx="1289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operator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572768"/>
            <a:ext cx="114300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9208" y="1682495"/>
            <a:ext cx="9235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78BFA"/>
                </a:solidFill>
                <a:latin typeface="Aptos"/>
              </a:rPr>
              <a:t>200%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9208" y="1984248"/>
            <a:ext cx="9235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ROI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2743200"/>
            <a:ext cx="365760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2880360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Monthly assumptions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3255264"/>
            <a:ext cx="332841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Revenue: Rp1.407B
Operating costs: Rp550M
Net profit before split: Rp857M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2743200"/>
            <a:ext cx="333756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2880360"/>
            <a:ext cx="3008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  <a:latin typeface="Aptos"/>
              </a:rPr>
              <a:t>Why it attracts customers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6592" y="3255264"/>
            <a:ext cx="300837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Live band, performances, dance floor, sea-view events, premium tables, and nightlife traffic.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79" y="2743200"/>
            <a:ext cx="2743200" cy="1874519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1" y="2880360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Operator upside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1" y="3255264"/>
            <a:ext cx="2414016" cy="1252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Target setup capital back in 6 months.
Month 7 onward becomes projected profit.
Annual ROI projection: 200%.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Reborn Wave Revenue Projection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Reborn receives 30% of each operator's monthly net profit after verified reporting.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45920"/>
            <a:ext cx="25603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F8D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755648"/>
            <a:ext cx="23408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8D477"/>
                </a:solidFill>
                <a:latin typeface="Aptos"/>
              </a:rPr>
              <a:t>Rp1.02B/month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057400"/>
            <a:ext cx="23408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Monthly Reborn profit share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645920"/>
            <a:ext cx="256032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7328" y="1755648"/>
            <a:ext cx="234086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Rp12.28B/year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2057400"/>
            <a:ext cx="23408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Annual Reborn profit share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1645920"/>
            <a:ext cx="2194560" cy="713232"/>
          </a:xfrm>
          <a:prstGeom prst="roundRect">
            <a:avLst/>
          </a:prstGeom>
          <a:solidFill>
            <a:srgbClr val="07272D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1755648"/>
            <a:ext cx="1975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S$884K/year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2057400"/>
            <a:ext cx="19751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9CACF"/>
                </a:solidFill>
                <a:latin typeface="Aptos"/>
              </a:rPr>
              <a:t>SGD reference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971800"/>
            <a:ext cx="4754880" cy="155448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108960"/>
            <a:ext cx="4425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Why the model works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3483864"/>
            <a:ext cx="4425696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Operators carry setup and operating costs. The base case targets capital back in 6 months, then month 7 onward profit while Reborn monetizes location, brand, traffic, and systems.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2971800"/>
            <a:ext cx="4343400" cy="1554480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62472" y="3108960"/>
            <a:ext cx="40142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Portfolio 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62472" y="3483864"/>
            <a:ext cx="40142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B9CACF"/>
                </a:solidFill>
                <a:latin typeface="Aptos"/>
              </a:rPr>
              <a:t>Multiple verticals reduce reliance on one business type: family traffic, beauty appointments, KTV bookings, pet cafe visits, and live events.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Marketing + Traffic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Create repeat reasons to visit, post, book, and bring groups.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3291840" cy="117043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645919"/>
            <a:ext cx="2962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Singing competitions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020824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Weekly competition content, finalists, voting, prize moments, and live audience energy.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508760"/>
            <a:ext cx="3291840" cy="117043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645919"/>
            <a:ext cx="2962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Tourist + family packages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020824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Bundled routes for kids fun house, KTV, pet cafe, beauty, and live house nights.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508760"/>
            <a:ext cx="3291840" cy="117043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1" y="1645919"/>
            <a:ext cx="2962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Aptos"/>
              </a:rPr>
              <a:t>Birthday + private 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1" y="2020824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Private KTV rooms, VIP hosting, live band packages, and table reservations.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108960"/>
            <a:ext cx="3291840" cy="117043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246120"/>
            <a:ext cx="2962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Aptos"/>
              </a:rPr>
              <a:t>Performance calendar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3621024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Live bands, dancers, creators, guest singers, and sea-view theme nights.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108960"/>
            <a:ext cx="3291840" cy="117043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3246120"/>
            <a:ext cx="2962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TikTok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3621024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@reborn.wave.group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3108960"/>
            <a:ext cx="3291840" cy="1170432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1" y="3246120"/>
            <a:ext cx="2962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  <a:latin typeface="Aptos"/>
              </a:rPr>
              <a:t>Instagram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1" y="3621024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9CACF"/>
                </a:solidFill>
                <a:latin typeface="Aptos"/>
              </a:rPr>
              <a:t>@rebornwavegroup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Risk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Protect operators, Reborn Wave, and the brand experience.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17320"/>
            <a:ext cx="996696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554480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Shared POS / reporting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929384"/>
            <a:ext cx="9637776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Monthly net profit can be verified from sales, costs, and cash records.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258568"/>
            <a:ext cx="996696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395728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Minimum operating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770632"/>
            <a:ext cx="9637776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Operators must keep the destination active and predictable for customers.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099816"/>
            <a:ext cx="996696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236976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Aptos"/>
              </a:rPr>
              <a:t>Brand + safety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611880"/>
            <a:ext cx="9637776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Design, hygiene, service, customer safety, and noise rules protect the building.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941064"/>
            <a:ext cx="996696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078224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Aptos"/>
              </a:rPr>
              <a:t>Monthly performance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453128"/>
            <a:ext cx="9637776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Slow operators receive action plans before replacement rights are triggered.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782312"/>
            <a:ext cx="996696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919472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  <a:latin typeface="Aptos"/>
              </a:rPr>
              <a:t>Replacement right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5294376"/>
            <a:ext cx="9637776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Inactive or non-performing operators can be replaced under contract terms.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646920" y="-182880"/>
            <a:ext cx="2194560" cy="7223760"/>
          </a:xfrm>
          <a:prstGeom prst="rect">
            <a:avLst/>
          </a:prstGeom>
          <a:solidFill>
            <a:srgbClr val="08373D"/>
          </a:solidFill>
          <a:ln>
            <a:solidFill>
              <a:srgbClr val="083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411480"/>
            <a:ext cx="2103120" cy="2103120"/>
          </a:xfrm>
          <a:prstGeom prst="ellipse">
            <a:avLst/>
          </a:prstGeom>
          <a:solidFill>
            <a:srgbClr val="22D3E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1325880"/>
            <a:ext cx="2103120" cy="2103120"/>
          </a:xfrm>
          <a:prstGeom prst="ellipse">
            <a:avLst/>
          </a:prstGeom>
          <a:solidFill>
            <a:srgbClr val="F8D47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19" y="2240280"/>
            <a:ext cx="2103120" cy="2103120"/>
          </a:xfrm>
          <a:prstGeom prst="ellipse">
            <a:avLst/>
          </a:prstGeom>
          <a:solidFill>
            <a:srgbClr val="34D3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9CACF"/>
                </a:solidFill>
                <a:latin typeface="Aptos"/>
              </a:rPr>
              <a:t>REBORN WAVE GROUP | OPERATOR-INVESTOR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6928"/>
            <a:ext cx="8503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9CACF"/>
                </a:solidFill>
                <a:latin typeface="Aptos"/>
              </a:rPr>
              <a:t>Move from operator interest to signed launch partners.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325880"/>
            <a:ext cx="996696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463039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2D3EE"/>
                </a:solidFill>
                <a:latin typeface="Aptos"/>
              </a:rPr>
              <a:t>1. Confirm operators by business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1837943"/>
            <a:ext cx="9637776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Match each operator to the right floor zone and budget requirement.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167128"/>
            <a:ext cx="996696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304288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8D477"/>
                </a:solidFill>
                <a:latin typeface="Aptos"/>
              </a:rPr>
              <a:t>2. Sign LOI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679192"/>
            <a:ext cx="9637776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Lock intent, contribution scope, timeline, reporting rules, and 70/30 split principles.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008376"/>
            <a:ext cx="996696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145536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Aptos"/>
              </a:rPr>
              <a:t>3. Finalize renovation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520440"/>
            <a:ext cx="9637776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Confirm design, cost, contractor timeline, equipment list, and opening budget.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849624"/>
            <a:ext cx="996696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986784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472B6"/>
                </a:solidFill>
                <a:latin typeface="Aptos"/>
              </a:rPr>
              <a:t>4. Open pilot marketing campaign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361688"/>
            <a:ext cx="9637776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Use TikTok, Instagram, WhatsApp, creators, hotel partners, and event previews.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690872"/>
            <a:ext cx="9966960" cy="658368"/>
          </a:xfrm>
          <a:prstGeom prst="roundRect">
            <a:avLst/>
          </a:prstGeom>
          <a:solidFill>
            <a:srgbClr val="0A2A30"/>
          </a:solidFill>
          <a:ln>
            <a:solidFill>
              <a:srgbClr val="1F5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828032"/>
            <a:ext cx="96377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A78BFA"/>
                </a:solidFill>
                <a:latin typeface="Aptos"/>
              </a:rPr>
              <a:t>5. Launch by floor / zone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5202936"/>
            <a:ext cx="9637776" cy="36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B9CACF"/>
                </a:solidFill>
                <a:latin typeface="Aptos"/>
              </a:rPr>
              <a:t>Open staged areas as operators finish buildout, training, and systems setup.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5099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B9CACF"/>
                </a:solidFill>
                <a:latin typeface="Aptos"/>
              </a:rPr>
              <a:t>ROI projections are estimates, not guaranteed returns. Figures require review by qualified legal, tax, and accounting professionals before operator contracts are signed.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7132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B9CACF"/>
                </a:solidFill>
                <a:latin typeface="Aptos"/>
              </a:rPr>
              <a:t>Reborn Wave Group | Operator-Investor Deck | IDR main + SGD reference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635508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>
                <a:solidFill>
                  <a:srgbClr val="B9CACF"/>
                </a:solidFill>
                <a:latin typeface="Aptos"/>
              </a:rPr>
              <a:t>ROI estimates only, not guaranteed returns.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